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jpeg" ContentType="image/jpeg"/>
  <Override PartName="/ppt/media/image3.png" ContentType="image/png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1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6256000" cy="9144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1FAD16E-07CE-40F8-A163-5E70E6FD5CF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2"/>
                </a:solidFill>
                <a:latin typeface="Arial"/>
              </a:rPr>
              <a:t>Note from Chuck.  If you are using these materials, you can remove the UM logo and replace it with your own, but please retain the CC-BY logo on the first page as well as retain the acknowledgement page(s) at the end.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3"/>
          <p:cNvSpPr/>
          <p:nvPr/>
        </p:nvSpPr>
        <p:spPr>
          <a:xfrm>
            <a:off x="0" y="0"/>
            <a:ext cx="16255080" cy="7671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3600" spc="-1" strike="noStrike">
              <a:solidFill>
                <a:srgbClr val="ffffff"/>
              </a:solidFill>
              <a:latin typeface="Gill Sans"/>
              <a:ea typeface="ヒラギノ角ゴ ProN W3"/>
            </a:endParaRPr>
          </a:p>
        </p:txBody>
      </p:sp>
      <p:sp>
        <p:nvSpPr>
          <p:cNvPr id="1" name="Rectangle 3"/>
          <p:cNvSpPr/>
          <p:nvPr/>
        </p:nvSpPr>
        <p:spPr>
          <a:xfrm>
            <a:off x="0" y="8357760"/>
            <a:ext cx="16255080" cy="7851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3600" spc="-1" strike="noStrike">
              <a:solidFill>
                <a:srgbClr val="ffffff"/>
              </a:solidFill>
              <a:latin typeface="Gill Sans"/>
              <a:ea typeface="ヒラギノ角ゴ ProN W3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29680" cy="530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/>
        </p:nvSpPr>
        <p:spPr>
          <a:xfrm>
            <a:off x="0" y="0"/>
            <a:ext cx="16255080" cy="7671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3600" spc="-1" strike="noStrike">
              <a:solidFill>
                <a:srgbClr val="ffffff"/>
              </a:solidFill>
              <a:latin typeface="Gill Sans"/>
              <a:ea typeface="ヒラギノ角ゴ ProN W3"/>
            </a:endParaRPr>
          </a:p>
        </p:txBody>
      </p:sp>
      <p:sp>
        <p:nvSpPr>
          <p:cNvPr id="7" name="Rectangle 3"/>
          <p:cNvSpPr/>
          <p:nvPr/>
        </p:nvSpPr>
        <p:spPr>
          <a:xfrm>
            <a:off x="0" y="8357760"/>
            <a:ext cx="16255080" cy="7851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3600" spc="-1" strike="noStrike">
              <a:solidFill>
                <a:srgbClr val="ffffff"/>
              </a:solidFill>
              <a:latin typeface="Gill Sans"/>
              <a:ea typeface="ヒラギノ角ゴ ProN W3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29680" cy="530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/>
          <p:nvPr/>
        </p:nvSpPr>
        <p:spPr>
          <a:xfrm>
            <a:off x="0" y="0"/>
            <a:ext cx="16255080" cy="7671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3600" spc="-1" strike="noStrike">
              <a:solidFill>
                <a:srgbClr val="ffffff"/>
              </a:solidFill>
              <a:latin typeface="Gill Sans"/>
              <a:ea typeface="ヒラギノ角ゴ ProN W3"/>
            </a:endParaRPr>
          </a:p>
        </p:txBody>
      </p:sp>
      <p:sp>
        <p:nvSpPr>
          <p:cNvPr id="13" name="Rectangle 3"/>
          <p:cNvSpPr/>
          <p:nvPr/>
        </p:nvSpPr>
        <p:spPr>
          <a:xfrm>
            <a:off x="0" y="8357760"/>
            <a:ext cx="16255080" cy="7851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3600" spc="-1" strike="noStrike">
              <a:solidFill>
                <a:srgbClr val="ffffff"/>
              </a:solidFill>
              <a:latin typeface="Gill Sans"/>
              <a:ea typeface="ヒラギノ角ゴ ProN W3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/>
          <p:cNvSpPr/>
          <p:nvPr/>
        </p:nvSpPr>
        <p:spPr>
          <a:xfrm>
            <a:off x="0" y="0"/>
            <a:ext cx="16255080" cy="7671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3600" spc="-1" strike="noStrike">
              <a:solidFill>
                <a:srgbClr val="ffffff"/>
              </a:solidFill>
              <a:latin typeface="Gill Sans"/>
              <a:ea typeface="ヒラギノ角ゴ ProN W3"/>
            </a:endParaRPr>
          </a:p>
        </p:txBody>
      </p:sp>
      <p:sp>
        <p:nvSpPr>
          <p:cNvPr id="17" name="Rectangle 3"/>
          <p:cNvSpPr/>
          <p:nvPr/>
        </p:nvSpPr>
        <p:spPr>
          <a:xfrm>
            <a:off x="0" y="8357760"/>
            <a:ext cx="16255080" cy="7851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en-US" sz="3600" spc="-1" strike="noStrike">
              <a:solidFill>
                <a:srgbClr val="ffffff"/>
              </a:solidFill>
              <a:latin typeface="Gill Sans"/>
              <a:ea typeface="ヒラギノ角ゴ ProN W3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to 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/>
          <p:cNvSpPr/>
          <p:nvPr/>
        </p:nvSpPr>
        <p:spPr>
          <a:xfrm>
            <a:off x="0" y="0"/>
            <a:ext cx="16255080" cy="7671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3600" spc="-1" strike="noStrike">
              <a:solidFill>
                <a:srgbClr val="ffffff"/>
              </a:solidFill>
              <a:latin typeface="Gill Sans"/>
              <a:ea typeface="ヒラギノ角ゴ ProN W3"/>
            </a:endParaRPr>
          </a:p>
        </p:txBody>
      </p:sp>
      <p:sp>
        <p:nvSpPr>
          <p:cNvPr id="21" name="Rectangle 3"/>
          <p:cNvSpPr/>
          <p:nvPr/>
        </p:nvSpPr>
        <p:spPr>
          <a:xfrm>
            <a:off x="0" y="8357760"/>
            <a:ext cx="16255080" cy="78516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3600" spc="-1" strike="noStrike">
              <a:solidFill>
                <a:srgbClr val="ffffff"/>
              </a:solidFill>
              <a:latin typeface="Gill Sans"/>
              <a:ea typeface="ヒラギノ角ゴ ProN W3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29680" cy="530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file:///home/codeptr/code/htdocs/py4e/lectures3/www.pythonlearn.com" TargetMode="Externa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://en.wikipedia.org/wiki/Mnemonic" TargetMode="External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hyperlink" Target="http://www.dr-chuck.com" TargetMode="Externa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155600" y="1536840"/>
            <a:ext cx="13930920" cy="3084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Vari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abl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es, 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Exp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res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sion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s, 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and 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Stat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em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ent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1155600" y="4711680"/>
            <a:ext cx="13930920" cy="105300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chemeClr val="lt1"/>
                </a:solidFill>
                <a:latin typeface="Arial"/>
                <a:ea typeface="Arial"/>
              </a:rPr>
              <a:t>Chapter 2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43"/>
          <p:cNvSpPr/>
          <p:nvPr/>
        </p:nvSpPr>
        <p:spPr>
          <a:xfrm>
            <a:off x="4081320" y="7130880"/>
            <a:ext cx="8327520" cy="10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00"/>
                </a:solidFill>
                <a:latin typeface="Arial"/>
                <a:ea typeface="Arial"/>
              </a:rPr>
              <a:t>Python for Everybody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 u="sng">
                <a:solidFill>
                  <a:srgbClr val="009999"/>
                </a:solidFill>
                <a:uFillTx/>
                <a:latin typeface="Arial"/>
                <a:ea typeface="Arial"/>
                <a:hlinkClick r:id="rId1"/>
              </a:rPr>
              <a:t>www.py4e.com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Shape 244" descr=""/>
          <p:cNvPicPr/>
          <p:nvPr/>
        </p:nvPicPr>
        <p:blipFill>
          <a:blip r:embed="rId2"/>
          <a:stretch/>
        </p:blipFill>
        <p:spPr>
          <a:xfrm>
            <a:off x="13800600" y="7435440"/>
            <a:ext cx="1967400" cy="667440"/>
          </a:xfrm>
          <a:prstGeom prst="rect">
            <a:avLst/>
          </a:prstGeom>
          <a:ln w="0">
            <a:noFill/>
          </a:ln>
        </p:spPr>
      </p:pic>
      <p:pic>
        <p:nvPicPr>
          <p:cNvPr id="36" name="Shape 208" descr=""/>
          <p:cNvPicPr/>
          <p:nvPr/>
        </p:nvPicPr>
        <p:blipFill>
          <a:blip r:embed="rId3"/>
          <a:stretch/>
        </p:blipFill>
        <p:spPr>
          <a:xfrm>
            <a:off x="635400" y="6947640"/>
            <a:ext cx="1023840" cy="1023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069520" cy="1103760"/>
          </a:xfrm>
          <a:prstGeom prst="rect">
            <a:avLst/>
          </a:prstGeom>
          <a:noFill/>
          <a:ln w="0">
            <a:noFill/>
          </a:ln>
        </p:spPr>
        <p:txBody>
          <a:bodyPr lIns="50760" rIns="50760" tIns="50760" bIns="507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0" spc="-1" strike="noStrike">
                <a:solidFill>
                  <a:srgbClr val="ffd966"/>
                </a:solidFill>
                <a:latin typeface="Arial"/>
                <a:ea typeface="Arial"/>
              </a:rPr>
              <a:t>Constants</a:t>
            </a:r>
            <a:endParaRPr b="0" lang="en-US" sz="7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14629320" cy="6032880"/>
          </a:xfrm>
          <a:prstGeom prst="rect">
            <a:avLst/>
          </a:prstGeom>
          <a:noFill/>
          <a:ln w="0">
            <a:noFill/>
          </a:ln>
        </p:spPr>
        <p:txBody>
          <a:bodyPr lIns="50760" rIns="50760" tIns="50760" bIns="50760" anchor="ctr">
            <a:noAutofit/>
          </a:bodyPr>
          <a:p>
            <a:pPr marL="1104840" indent="-603360">
              <a:lnSpc>
                <a:spcPct val="100000"/>
              </a:lnSpc>
              <a:buClr>
                <a:srgbClr val="ff9900"/>
              </a:buClr>
              <a:buFont typeface="Cabin"/>
              <a:buChar char="•"/>
            </a:pPr>
            <a:r>
              <a:rPr b="0" lang="en-US" sz="3600" spc="-1" strike="noStrike">
                <a:solidFill>
                  <a:srgbClr val="ff9900"/>
                </a:solidFill>
                <a:latin typeface="Arial"/>
                <a:ea typeface="Arial"/>
              </a:rPr>
              <a:t>Fixed values 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such as numbers, 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letters, and strings, are called </a:t>
            </a:r>
            <a:r>
              <a:rPr b="0" lang="en-US" sz="3600" spc="-1" strike="noStrike">
                <a:solidFill>
                  <a:srgbClr val="ff9900"/>
                </a:solidFill>
                <a:latin typeface="Arial"/>
                <a:ea typeface="Arial"/>
              </a:rPr>
              <a:t>“constants” 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because their value 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does not change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1104840" indent="-603360">
              <a:lnSpc>
                <a:spcPct val="100000"/>
              </a:lnSpc>
              <a:spcBef>
                <a:spcPts val="2299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Numeric </a:t>
            </a:r>
            <a:r>
              <a:rPr b="0" lang="en-US" sz="3600" spc="-1" strike="noStrike">
                <a:solidFill>
                  <a:srgbClr val="ff9900"/>
                </a:solidFill>
                <a:latin typeface="Arial"/>
                <a:ea typeface="Arial"/>
              </a:rPr>
              <a:t>constants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are as you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expect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1104840" indent="-603360">
              <a:lnSpc>
                <a:spcPct val="100000"/>
              </a:lnSpc>
              <a:spcBef>
                <a:spcPts val="2299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String </a:t>
            </a:r>
            <a:r>
              <a:rPr b="0" lang="en-US" sz="3600" spc="-1" strike="noStrike">
                <a:solidFill>
                  <a:srgbClr val="ff9900"/>
                </a:solidFill>
                <a:latin typeface="Arial"/>
                <a:ea typeface="Arial"/>
              </a:rPr>
              <a:t>constants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use single quotes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(')</a:t>
            </a:r>
            <a:br>
              <a:rPr sz="3600"/>
            </a:b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or double quotes (")</a:t>
            </a:r>
            <a:br>
              <a:rPr sz="3600"/>
            </a:b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252"/>
          <p:cNvSpPr/>
          <p:nvPr/>
        </p:nvSpPr>
        <p:spPr>
          <a:xfrm>
            <a:off x="10115640" y="5041800"/>
            <a:ext cx="5985360" cy="31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rgbClr val="ff9900"/>
                </a:solidFill>
                <a:latin typeface="Courier New"/>
                <a:ea typeface="Courier New"/>
              </a:rPr>
              <a:t>123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123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rgbClr val="ff9900"/>
                </a:solidFill>
                <a:latin typeface="Courier New"/>
                <a:ea typeface="Courier New"/>
              </a:rPr>
              <a:t>98.6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98.6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 print(</a:t>
            </a:r>
            <a:r>
              <a:rPr b="0" lang="en-US" sz="3000" spc="-1" strike="noStrike">
                <a:solidFill>
                  <a:srgbClr val="ff9900"/>
                </a:solidFill>
                <a:latin typeface="Courier New"/>
                <a:ea typeface="Courier New"/>
              </a:rPr>
              <a:t>'Hello world'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Hello world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Reserved Words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1298880" y="2529360"/>
            <a:ext cx="14143320" cy="1185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You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cannot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use 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reserved words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as variable names / identifiers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503"/>
          <p:cNvSpPr/>
          <p:nvPr/>
        </p:nvSpPr>
        <p:spPr>
          <a:xfrm>
            <a:off x="1617480" y="3336840"/>
            <a:ext cx="14143320" cy="41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de-DE" sz="3200" spc="-1" strike="noStrike">
                <a:solidFill>
                  <a:srgbClr val="ffff00"/>
                </a:solidFill>
                <a:latin typeface="Courier New"/>
                <a:ea typeface="Courier New"/>
              </a:rPr>
              <a:t>False      await      else       import     pass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3200" spc="-1" strike="noStrike">
                <a:solidFill>
                  <a:srgbClr val="ffff00"/>
                </a:solidFill>
                <a:latin typeface="Courier New"/>
                <a:ea typeface="Courier New"/>
              </a:rPr>
              <a:t>None       break      except     in         raise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3200" spc="-1" strike="noStrike">
                <a:solidFill>
                  <a:srgbClr val="ffff00"/>
                </a:solidFill>
                <a:latin typeface="Courier New"/>
                <a:ea typeface="Courier New"/>
              </a:rPr>
              <a:t>True       class      finally    is         return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3200" spc="-1" strike="noStrike">
                <a:solidFill>
                  <a:srgbClr val="ffff00"/>
                </a:solidFill>
                <a:latin typeface="Courier New"/>
                <a:ea typeface="Courier New"/>
              </a:rPr>
              <a:t>and        continue   for        lambda     try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3200" spc="-1" strike="noStrike">
                <a:solidFill>
                  <a:srgbClr val="ffff00"/>
                </a:solidFill>
                <a:latin typeface="Courier New"/>
                <a:ea typeface="Courier New"/>
              </a:rPr>
              <a:t>as         def        from       nonlocal   while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3200" spc="-1" strike="noStrike">
                <a:solidFill>
                  <a:srgbClr val="ffff00"/>
                </a:solidFill>
                <a:latin typeface="Courier New"/>
                <a:ea typeface="Courier New"/>
              </a:rPr>
              <a:t>assert     del        global     not        with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3200" spc="-1" strike="noStrike">
                <a:solidFill>
                  <a:srgbClr val="ffff00"/>
                </a:solidFill>
                <a:latin typeface="Courier New"/>
                <a:ea typeface="Courier New"/>
              </a:rPr>
              <a:t>async      elif       if         or         yield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Variables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14629320" cy="267372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749160" indent="-371160">
              <a:lnSpc>
                <a:spcPct val="100000"/>
              </a:lnSpc>
              <a:buClr>
                <a:srgbClr val="ffffff"/>
              </a:buClr>
              <a:buFont typeface="Cabin"/>
              <a:buChar char="•"/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A </a:t>
            </a:r>
            <a:r>
              <a:rPr b="0" lang="en-US" sz="3200" spc="-1" strike="noStrike">
                <a:solidFill>
                  <a:srgbClr val="00ff00"/>
                </a:solidFill>
                <a:latin typeface="Arial"/>
                <a:ea typeface="Arial"/>
              </a:rPr>
              <a:t>variable</a:t>
            </a: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 is a named place in the memory where a programmer can store data and later retrieve the data using the </a:t>
            </a:r>
            <a:r>
              <a:rPr b="0" lang="en-US" sz="3200" spc="-1" strike="noStrike">
                <a:solidFill>
                  <a:srgbClr val="00ff00"/>
                </a:solidFill>
                <a:latin typeface="Arial"/>
                <a:ea typeface="Arial"/>
              </a:rPr>
              <a:t>variable</a:t>
            </a: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 “name”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Programmers get to choose the names of the </a:t>
            </a:r>
            <a:r>
              <a:rPr b="0" lang="en-US" sz="3200" spc="-1" strike="noStrike">
                <a:solidFill>
                  <a:srgbClr val="00ff00"/>
                </a:solidFill>
                <a:latin typeface="Arial"/>
                <a:ea typeface="Arial"/>
              </a:rPr>
              <a:t>variables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You can change the contents of a </a:t>
            </a:r>
            <a:r>
              <a:rPr b="0" lang="en-US" sz="3200" spc="-1" strike="noStrike">
                <a:solidFill>
                  <a:srgbClr val="00ff00"/>
                </a:solidFill>
                <a:latin typeface="Arial"/>
                <a:ea typeface="Arial"/>
              </a:rPr>
              <a:t>variable </a:t>
            </a: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in a later statement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259"/>
          <p:cNvSpPr/>
          <p:nvPr/>
        </p:nvSpPr>
        <p:spPr>
          <a:xfrm>
            <a:off x="10388520" y="5083200"/>
            <a:ext cx="5015520" cy="1269000"/>
          </a:xfrm>
          <a:prstGeom prst="rect">
            <a:avLst/>
          </a:prstGeom>
          <a:noFill/>
          <a:ln w="76200">
            <a:solidFill>
              <a:srgbClr val="00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9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0" lang="en-US" sz="4900" spc="-1" strike="noStrike">
                <a:solidFill>
                  <a:schemeClr val="lt1"/>
                </a:solidFill>
                <a:latin typeface="Arial"/>
                <a:ea typeface="Arial"/>
              </a:rPr>
              <a:t>12.2</a:t>
            </a:r>
            <a:endParaRPr b="0" lang="en-US" sz="4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260"/>
          <p:cNvSpPr/>
          <p:nvPr/>
        </p:nvSpPr>
        <p:spPr>
          <a:xfrm>
            <a:off x="9534600" y="5280120"/>
            <a:ext cx="44352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5200" spc="-1" strike="noStrike">
                <a:solidFill>
                  <a:srgbClr val="00ff00"/>
                </a:solidFill>
                <a:latin typeface="Arial"/>
                <a:ea typeface="Arial"/>
              </a:rPr>
              <a:t>x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261"/>
          <p:cNvSpPr/>
          <p:nvPr/>
        </p:nvSpPr>
        <p:spPr>
          <a:xfrm>
            <a:off x="10350360" y="6721560"/>
            <a:ext cx="5015520" cy="1269000"/>
          </a:xfrm>
          <a:prstGeom prst="rect">
            <a:avLst/>
          </a:prstGeom>
          <a:noFill/>
          <a:ln w="76200">
            <a:solidFill>
              <a:srgbClr val="00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9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0" lang="en-US" sz="4900" spc="-1" strike="noStrike">
                <a:solidFill>
                  <a:schemeClr val="lt1"/>
                </a:solidFill>
                <a:latin typeface="Arial"/>
                <a:ea typeface="Arial"/>
              </a:rPr>
              <a:t>14               </a:t>
            </a:r>
            <a:endParaRPr b="0" lang="en-US" sz="4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262"/>
          <p:cNvSpPr/>
          <p:nvPr/>
        </p:nvSpPr>
        <p:spPr>
          <a:xfrm>
            <a:off x="9518760" y="6924600"/>
            <a:ext cx="40356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5200" spc="-1" strike="noStrike">
                <a:solidFill>
                  <a:srgbClr val="00ff00"/>
                </a:solidFill>
                <a:latin typeface="Arial"/>
                <a:ea typeface="Arial"/>
              </a:rPr>
              <a:t>y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263"/>
          <p:cNvSpPr/>
          <p:nvPr/>
        </p:nvSpPr>
        <p:spPr>
          <a:xfrm>
            <a:off x="2624040" y="5314680"/>
            <a:ext cx="4037760" cy="23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00ff00"/>
                </a:solidFill>
                <a:latin typeface="Courier New"/>
                <a:ea typeface="Courier New"/>
              </a:rPr>
              <a:t>x </a:t>
            </a:r>
            <a:r>
              <a:rPr b="0" lang="en-US" sz="4800" spc="-1" strike="noStrike">
                <a:solidFill>
                  <a:srgbClr val="ffffff"/>
                </a:solidFill>
                <a:latin typeface="Courier New"/>
                <a:ea typeface="Courier New"/>
              </a:rPr>
              <a:t>=</a:t>
            </a:r>
            <a:r>
              <a:rPr b="0" lang="en-US" sz="4800" spc="-1" strike="noStrike">
                <a:solidFill>
                  <a:srgbClr val="ffff00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ff9900"/>
                </a:solidFill>
                <a:latin typeface="Courier New"/>
                <a:ea typeface="Courier New"/>
              </a:rPr>
              <a:t>12.2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00ff00"/>
                </a:solidFill>
                <a:latin typeface="Courier New"/>
                <a:ea typeface="Courier New"/>
              </a:rPr>
              <a:t>y</a:t>
            </a:r>
            <a:r>
              <a:rPr b="0" lang="en-US" sz="4800" spc="-1" strike="noStrike">
                <a:solidFill>
                  <a:srgbClr val="ffff00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ffffff"/>
                </a:solidFill>
                <a:latin typeface="Courier New"/>
                <a:ea typeface="Courier New"/>
              </a:rPr>
              <a:t>=</a:t>
            </a:r>
            <a:r>
              <a:rPr b="0" lang="en-US" sz="4800" spc="-1" strike="noStrike">
                <a:solidFill>
                  <a:srgbClr val="ffff00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ff9900"/>
                </a:solidFill>
                <a:latin typeface="Courier New"/>
                <a:ea typeface="Courier New"/>
              </a:rPr>
              <a:t>14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264"/>
          <p:cNvSpPr/>
          <p:nvPr/>
        </p:nvSpPr>
        <p:spPr>
          <a:xfrm>
            <a:off x="2624040" y="8034480"/>
            <a:ext cx="378792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Courier New"/>
              <a:ea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Vari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abl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es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14629320" cy="267372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749160" indent="-371160">
              <a:lnSpc>
                <a:spcPct val="100000"/>
              </a:lnSpc>
              <a:buClr>
                <a:srgbClr val="ffffff"/>
              </a:buClr>
              <a:buFont typeface="Cabin"/>
              <a:buChar char="•"/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A </a:t>
            </a:r>
            <a:r>
              <a:rPr b="0" lang="en-US" sz="3200" spc="-1" strike="noStrike">
                <a:solidFill>
                  <a:srgbClr val="00ff00"/>
                </a:solidFill>
                <a:latin typeface="Arial"/>
                <a:ea typeface="Arial"/>
              </a:rPr>
              <a:t>variable</a:t>
            </a: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 is a named place in </a:t>
            </a: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the memory where a </a:t>
            </a: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programmer can store data and </a:t>
            </a: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later retrieve the data using the </a:t>
            </a:r>
            <a:r>
              <a:rPr b="0" lang="en-US" sz="3200" spc="-1" strike="noStrike">
                <a:solidFill>
                  <a:srgbClr val="00ff00"/>
                </a:solidFill>
                <a:latin typeface="Arial"/>
                <a:ea typeface="Arial"/>
              </a:rPr>
              <a:t>variable</a:t>
            </a: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 “name”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Programmers get to choose the </a:t>
            </a: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names of the </a:t>
            </a:r>
            <a:r>
              <a:rPr b="0" lang="en-US" sz="3200" spc="-1" strike="noStrike">
                <a:solidFill>
                  <a:srgbClr val="00ff00"/>
                </a:solidFill>
                <a:latin typeface="Arial"/>
                <a:ea typeface="Arial"/>
              </a:rPr>
              <a:t>variables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You can change the contents of </a:t>
            </a: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a </a:t>
            </a:r>
            <a:r>
              <a:rPr b="0" lang="en-US" sz="3200" spc="-1" strike="noStrike">
                <a:solidFill>
                  <a:srgbClr val="00ff00"/>
                </a:solidFill>
                <a:latin typeface="Arial"/>
                <a:ea typeface="Arial"/>
              </a:rPr>
              <a:t>variable </a:t>
            </a: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in a later statement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259"/>
          <p:cNvSpPr/>
          <p:nvPr/>
        </p:nvSpPr>
        <p:spPr>
          <a:xfrm>
            <a:off x="10388520" y="5083200"/>
            <a:ext cx="5015520" cy="1269000"/>
          </a:xfrm>
          <a:prstGeom prst="rect">
            <a:avLst/>
          </a:prstGeom>
          <a:noFill/>
          <a:ln w="76200">
            <a:solidFill>
              <a:srgbClr val="00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9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0" lang="en-US" sz="4900" spc="-1" strike="noStrike">
                <a:solidFill>
                  <a:schemeClr val="lt1"/>
                </a:solidFill>
                <a:latin typeface="Arial"/>
                <a:ea typeface="Arial"/>
              </a:rPr>
              <a:t>12.2</a:t>
            </a:r>
            <a:endParaRPr b="0" lang="en-US" sz="4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260"/>
          <p:cNvSpPr/>
          <p:nvPr/>
        </p:nvSpPr>
        <p:spPr>
          <a:xfrm>
            <a:off x="9534600" y="5280120"/>
            <a:ext cx="44352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5200" spc="-1" strike="noStrike">
                <a:solidFill>
                  <a:srgbClr val="00ff00"/>
                </a:solidFill>
                <a:latin typeface="Arial"/>
                <a:ea typeface="Arial"/>
              </a:rPr>
              <a:t>x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261"/>
          <p:cNvSpPr/>
          <p:nvPr/>
        </p:nvSpPr>
        <p:spPr>
          <a:xfrm>
            <a:off x="10350360" y="6721560"/>
            <a:ext cx="5015520" cy="1269000"/>
          </a:xfrm>
          <a:prstGeom prst="rect">
            <a:avLst/>
          </a:prstGeom>
          <a:noFill/>
          <a:ln w="76200">
            <a:solidFill>
              <a:srgbClr val="00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9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0" lang="en-US" sz="4900" spc="-1" strike="noStrike">
                <a:solidFill>
                  <a:schemeClr val="lt1"/>
                </a:solidFill>
                <a:latin typeface="Arial"/>
                <a:ea typeface="Arial"/>
              </a:rPr>
              <a:t>14               </a:t>
            </a:r>
            <a:endParaRPr b="0" lang="en-US" sz="4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262"/>
          <p:cNvSpPr/>
          <p:nvPr/>
        </p:nvSpPr>
        <p:spPr>
          <a:xfrm>
            <a:off x="9518760" y="6924600"/>
            <a:ext cx="40356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5200" spc="-1" strike="noStrike">
                <a:solidFill>
                  <a:srgbClr val="00ff00"/>
                </a:solidFill>
                <a:latin typeface="Arial"/>
                <a:ea typeface="Arial"/>
              </a:rPr>
              <a:t>y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7" name="Shape 276"/>
          <p:cNvGrpSpPr/>
          <p:nvPr/>
        </p:nvGrpSpPr>
        <p:grpSpPr>
          <a:xfrm>
            <a:off x="10690200" y="5319360"/>
            <a:ext cx="764280" cy="904320"/>
            <a:chOff x="10690200" y="5319360"/>
            <a:chExt cx="764280" cy="904320"/>
          </a:xfrm>
        </p:grpSpPr>
        <p:cxnSp>
          <p:nvCxnSpPr>
            <p:cNvPr id="58" name="Shape 277"/>
            <p:cNvCxnSpPr/>
            <p:nvPr/>
          </p:nvCxnSpPr>
          <p:spPr>
            <a:xfrm flipH="1">
              <a:off x="10690200" y="5335560"/>
              <a:ext cx="764640" cy="888480"/>
            </a:xfrm>
            <a:prstGeom prst="straightConnector1">
              <a:avLst/>
            </a:prstGeom>
            <a:ln cap="rnd" w="63500">
              <a:solidFill>
                <a:srgbClr val="ffff00"/>
              </a:solidFill>
              <a:miter/>
            </a:ln>
          </p:spPr>
        </p:cxnSp>
        <p:cxnSp>
          <p:nvCxnSpPr>
            <p:cNvPr id="59" name="Shape 278"/>
            <p:cNvCxnSpPr/>
            <p:nvPr/>
          </p:nvCxnSpPr>
          <p:spPr>
            <a:xfrm>
              <a:off x="10690200" y="5319360"/>
              <a:ext cx="573480" cy="799560"/>
            </a:xfrm>
            <a:prstGeom prst="straightConnector1">
              <a:avLst/>
            </a:prstGeom>
            <a:ln cap="rnd" w="63500">
              <a:solidFill>
                <a:srgbClr val="ffff00"/>
              </a:solidFill>
              <a:miter/>
            </a:ln>
          </p:spPr>
        </p:cxnSp>
      </p:grpSp>
      <p:sp>
        <p:nvSpPr>
          <p:cNvPr id="60" name="Shape 279"/>
          <p:cNvSpPr/>
          <p:nvPr/>
        </p:nvSpPr>
        <p:spPr>
          <a:xfrm>
            <a:off x="11852280" y="5256360"/>
            <a:ext cx="1668600" cy="9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5800" spc="-1" strike="noStrike">
                <a:solidFill>
                  <a:schemeClr val="lt1"/>
                </a:solidFill>
                <a:latin typeface="Arial"/>
                <a:ea typeface="Arial"/>
              </a:rPr>
              <a:t>100</a:t>
            </a:r>
            <a:endParaRPr b="0" lang="en-US" sz="5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263"/>
          <p:cNvSpPr/>
          <p:nvPr/>
        </p:nvSpPr>
        <p:spPr>
          <a:xfrm>
            <a:off x="2624040" y="5314680"/>
            <a:ext cx="4037760" cy="23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00ff00"/>
                </a:solidFill>
                <a:latin typeface="Courier New"/>
                <a:ea typeface="Courier New"/>
              </a:rPr>
              <a:t>x </a:t>
            </a:r>
            <a:r>
              <a:rPr b="0" lang="en-US" sz="4800" spc="-1" strike="noStrike">
                <a:solidFill>
                  <a:srgbClr val="ffffff"/>
                </a:solidFill>
                <a:latin typeface="Courier New"/>
                <a:ea typeface="Courier New"/>
              </a:rPr>
              <a:t>=</a:t>
            </a:r>
            <a:r>
              <a:rPr b="0" lang="en-US" sz="4800" spc="-1" strike="noStrike">
                <a:solidFill>
                  <a:srgbClr val="ffff00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ff9900"/>
                </a:solidFill>
                <a:latin typeface="Courier New"/>
                <a:ea typeface="Courier New"/>
              </a:rPr>
              <a:t>12.2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00ff00"/>
                </a:solidFill>
                <a:latin typeface="Courier New"/>
                <a:ea typeface="Courier New"/>
              </a:rPr>
              <a:t>y</a:t>
            </a:r>
            <a:r>
              <a:rPr b="0" lang="en-US" sz="4800" spc="-1" strike="noStrike">
                <a:solidFill>
                  <a:srgbClr val="ffff00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ffffff"/>
                </a:solidFill>
                <a:latin typeface="Courier New"/>
                <a:ea typeface="Courier New"/>
              </a:rPr>
              <a:t>=</a:t>
            </a:r>
            <a:r>
              <a:rPr b="0" lang="en-US" sz="4800" spc="-1" strike="noStrike">
                <a:solidFill>
                  <a:srgbClr val="ffff00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ff9900"/>
                </a:solidFill>
                <a:latin typeface="Courier New"/>
                <a:ea typeface="Courier New"/>
              </a:rPr>
              <a:t>14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00ff00"/>
                </a:solidFill>
                <a:latin typeface="Courier New"/>
                <a:ea typeface="Courier New"/>
              </a:rPr>
              <a:t>x </a:t>
            </a:r>
            <a:r>
              <a:rPr b="0" lang="en-US" sz="4800" spc="-1" strike="noStrike">
                <a:solidFill>
                  <a:srgbClr val="ffffff"/>
                </a:solidFill>
                <a:latin typeface="Courier New"/>
                <a:ea typeface="Courier New"/>
              </a:rPr>
              <a:t>=</a:t>
            </a:r>
            <a:r>
              <a:rPr b="0" lang="en-US" sz="4800" spc="-1" strike="noStrike">
                <a:solidFill>
                  <a:srgbClr val="ffff00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ff9900"/>
                </a:solidFill>
                <a:latin typeface="Courier New"/>
                <a:ea typeface="Courier New"/>
              </a:rPr>
              <a:t>100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Pyt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hon 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Vari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abl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e 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Na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me 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Rul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es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14629320" cy="312300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949680" indent="-571680">
              <a:lnSpc>
                <a:spcPct val="100000"/>
              </a:lnSpc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Must start with a letter or underscore _ 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949680" indent="-57168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Must consist of letters, numbers, and underscores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949680" indent="-57168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Case Sensitive</a:t>
            </a:r>
            <a:br>
              <a:rPr sz="3600"/>
            </a:b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2432880" y="5500800"/>
            <a:ext cx="1115316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fa00"/>
                </a:solidFill>
                <a:latin typeface="Courier New"/>
                <a:ea typeface="Courier New"/>
              </a:rPr>
              <a:t>Good:    </a:t>
            </a:r>
            <a:r>
              <a:rPr b="0" lang="en-US" sz="3600" spc="-1" strike="noStrike">
                <a:solidFill>
                  <a:schemeClr val="lt1"/>
                </a:solidFill>
                <a:latin typeface="Courier New"/>
                <a:ea typeface="Courier New"/>
              </a:rPr>
              <a:t>spam    eggs   spam23    _speed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ff545a"/>
                </a:solidFill>
                <a:latin typeface="Courier New"/>
                <a:ea typeface="Courier New"/>
              </a:rPr>
              <a:t>Bad:</a:t>
            </a:r>
            <a:r>
              <a:rPr b="0" lang="en-US" sz="3600" spc="-1" strike="noStrike">
                <a:solidFill>
                  <a:srgbClr val="ff0000"/>
                </a:solidFill>
                <a:latin typeface="Courier New"/>
                <a:ea typeface="Courier New"/>
              </a:rPr>
              <a:t>     </a:t>
            </a:r>
            <a:r>
              <a:rPr b="0" lang="en-US" sz="3600" spc="-1" strike="noStrike">
                <a:solidFill>
                  <a:schemeClr val="lt1"/>
                </a:solidFill>
                <a:latin typeface="Courier New"/>
                <a:ea typeface="Courier New"/>
              </a:rPr>
              <a:t>23spam     #sign  var.12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fdff"/>
                </a:solidFill>
                <a:latin typeface="Courier New"/>
                <a:ea typeface="Courier New"/>
              </a:rPr>
              <a:t>Different:    </a:t>
            </a:r>
            <a:r>
              <a:rPr b="0" lang="en-US" sz="3600" spc="-1" strike="noStrike">
                <a:solidFill>
                  <a:schemeClr val="lt1"/>
                </a:solidFill>
                <a:latin typeface="Courier New"/>
                <a:ea typeface="Courier New"/>
              </a:rPr>
              <a:t>spam   Spam   SPAM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50760" rIns="50760" tIns="50760" bIns="507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0" spc="-1" strike="noStrike">
                <a:solidFill>
                  <a:srgbClr val="ffd966"/>
                </a:solidFill>
                <a:latin typeface="Arial"/>
                <a:ea typeface="Arial"/>
              </a:rPr>
              <a:t>Mn</a:t>
            </a:r>
            <a:r>
              <a:rPr b="0" lang="en-US" sz="7800" spc="-1" strike="noStrike">
                <a:solidFill>
                  <a:srgbClr val="ffd966"/>
                </a:solidFill>
                <a:latin typeface="Arial"/>
                <a:ea typeface="Arial"/>
              </a:rPr>
              <a:t>em</a:t>
            </a:r>
            <a:r>
              <a:rPr b="0" lang="en-US" sz="7800" spc="-1" strike="noStrike">
                <a:solidFill>
                  <a:srgbClr val="ffd966"/>
                </a:solidFill>
                <a:latin typeface="Arial"/>
                <a:ea typeface="Arial"/>
              </a:rPr>
              <a:t>oni</a:t>
            </a:r>
            <a:r>
              <a:rPr b="0" lang="en-US" sz="7800" spc="-1" strike="noStrike">
                <a:solidFill>
                  <a:srgbClr val="ffd966"/>
                </a:solidFill>
                <a:latin typeface="Arial"/>
                <a:ea typeface="Arial"/>
              </a:rPr>
              <a:t>c </a:t>
            </a:r>
            <a:r>
              <a:rPr b="0" lang="en-US" sz="7800" spc="-1" strike="noStrike">
                <a:solidFill>
                  <a:srgbClr val="ffd966"/>
                </a:solidFill>
                <a:latin typeface="Arial"/>
                <a:ea typeface="Arial"/>
              </a:rPr>
              <a:t>Vari</a:t>
            </a:r>
            <a:r>
              <a:rPr b="0" lang="en-US" sz="7800" spc="-1" strike="noStrike">
                <a:solidFill>
                  <a:srgbClr val="ffd966"/>
                </a:solidFill>
                <a:latin typeface="Arial"/>
                <a:ea typeface="Arial"/>
              </a:rPr>
              <a:t>abl</a:t>
            </a:r>
            <a:r>
              <a:rPr b="0" lang="en-US" sz="7800" spc="-1" strike="noStrike">
                <a:solidFill>
                  <a:srgbClr val="ffd966"/>
                </a:solidFill>
                <a:latin typeface="Arial"/>
                <a:ea typeface="Arial"/>
              </a:rPr>
              <a:t>e </a:t>
            </a:r>
            <a:r>
              <a:rPr b="0" lang="en-US" sz="7800" spc="-1" strike="noStrike">
                <a:solidFill>
                  <a:srgbClr val="ffd966"/>
                </a:solidFill>
                <a:latin typeface="Arial"/>
                <a:ea typeface="Arial"/>
              </a:rPr>
              <a:t>Na</a:t>
            </a:r>
            <a:r>
              <a:rPr b="0" lang="en-US" sz="7800" spc="-1" strike="noStrike">
                <a:solidFill>
                  <a:srgbClr val="ffd966"/>
                </a:solidFill>
                <a:latin typeface="Arial"/>
                <a:ea typeface="Arial"/>
              </a:rPr>
              <a:t>me</a:t>
            </a:r>
            <a:r>
              <a:rPr b="0" lang="en-US" sz="7800" spc="-1" strike="noStrike">
                <a:solidFill>
                  <a:srgbClr val="ffd966"/>
                </a:solidFill>
                <a:latin typeface="Arial"/>
                <a:ea typeface="Arial"/>
              </a:rPr>
              <a:t>s</a:t>
            </a:r>
            <a:endParaRPr b="0" lang="en-US" sz="7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14629320" cy="4994640"/>
          </a:xfrm>
          <a:prstGeom prst="rect">
            <a:avLst/>
          </a:prstGeom>
          <a:noFill/>
          <a:ln w="0">
            <a:noFill/>
          </a:ln>
        </p:spPr>
        <p:txBody>
          <a:bodyPr lIns="50760" rIns="50760" tIns="50760" bIns="50760" anchor="ctr">
            <a:noAutofit/>
          </a:bodyPr>
          <a:p>
            <a:pPr marL="1104840" indent="-603360">
              <a:lnSpc>
                <a:spcPct val="100000"/>
              </a:lnSpc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Since we programmers are given a choice in how we choose our variable names, there is a bit of “best practice”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1104840" indent="-603360">
              <a:lnSpc>
                <a:spcPct val="100000"/>
              </a:lnSpc>
              <a:spcBef>
                <a:spcPts val="2299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We name variables to help us remember what we intend to store in them (“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mnemonic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” = “memory aid”)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1104840" indent="-603360">
              <a:lnSpc>
                <a:spcPct val="100000"/>
              </a:lnSpc>
              <a:spcBef>
                <a:spcPts val="2299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This can confuse beginning students because well-named variables often “sound” so good that they must be keywords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508"/>
          <p:cNvSpPr/>
          <p:nvPr/>
        </p:nvSpPr>
        <p:spPr>
          <a:xfrm>
            <a:off x="3980520" y="7521480"/>
            <a:ext cx="8294400" cy="65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 u="sng">
                <a:solidFill>
                  <a:srgbClr val="009999"/>
                </a:solidFill>
                <a:uFillTx/>
                <a:latin typeface="Arial"/>
                <a:ea typeface="Arial"/>
                <a:hlinkClick r:id="rId1"/>
              </a:rPr>
              <a:t>http://en.wikipedia.org/wiki/Mnemonic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513"/>
          <p:cNvSpPr/>
          <p:nvPr/>
        </p:nvSpPr>
        <p:spPr>
          <a:xfrm>
            <a:off x="1208160" y="1676520"/>
            <a:ext cx="8340480" cy="23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x1q3z9ocd = 35.0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x1q3z9afd = 12.50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x1q3p9afd = x1q3z9ocd * x1q3z9afd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print(x1q3p9afd)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514"/>
          <p:cNvSpPr/>
          <p:nvPr/>
        </p:nvSpPr>
        <p:spPr>
          <a:xfrm>
            <a:off x="1536840" y="6058080"/>
            <a:ext cx="385920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800" spc="-1" strike="noStrike">
                <a:solidFill>
                  <a:schemeClr val="lt1"/>
                </a:solidFill>
                <a:latin typeface="Arial"/>
                <a:ea typeface="Arial"/>
              </a:rPr>
              <a:t>What is this bit of code doing?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519"/>
          <p:cNvSpPr/>
          <p:nvPr/>
        </p:nvSpPr>
        <p:spPr>
          <a:xfrm>
            <a:off x="1208160" y="1676520"/>
            <a:ext cx="8340480" cy="23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x1q3z9ocd = 35.0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x1q3z9afd = 12.50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x1q3p9afd = x1q3z9ocd * x1q3z9afd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print(x1q3p9afd)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520"/>
          <p:cNvSpPr/>
          <p:nvPr/>
        </p:nvSpPr>
        <p:spPr>
          <a:xfrm>
            <a:off x="11531520" y="1676520"/>
            <a:ext cx="2108880" cy="23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a = 35.0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b = 12.50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c = a * b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print(c)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521"/>
          <p:cNvSpPr/>
          <p:nvPr/>
        </p:nvSpPr>
        <p:spPr>
          <a:xfrm>
            <a:off x="1536840" y="6058080"/>
            <a:ext cx="418536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800" spc="-1" strike="noStrike">
                <a:solidFill>
                  <a:schemeClr val="lt1"/>
                </a:solidFill>
                <a:latin typeface="Arial"/>
                <a:ea typeface="Arial"/>
              </a:rPr>
              <a:t>What are these bits of code doing?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526"/>
          <p:cNvSpPr/>
          <p:nvPr/>
        </p:nvSpPr>
        <p:spPr>
          <a:xfrm>
            <a:off x="1208160" y="1676520"/>
            <a:ext cx="8340480" cy="23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x1q3z9ocd = 35.0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x1q3z9afd = 12.50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x1q3p9afd = x1q3z9ocd * x1q3z9afd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print(x1q3p9afd)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527"/>
          <p:cNvSpPr/>
          <p:nvPr/>
        </p:nvSpPr>
        <p:spPr>
          <a:xfrm>
            <a:off x="7137360" y="5499000"/>
            <a:ext cx="5207400" cy="23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hours = 35.0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rate = 12.50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pay = hours * rate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print(pay)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528"/>
          <p:cNvSpPr/>
          <p:nvPr/>
        </p:nvSpPr>
        <p:spPr>
          <a:xfrm>
            <a:off x="11531520" y="1676520"/>
            <a:ext cx="2108880" cy="23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a = 35.0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b = 12.50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c = a * b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print(c)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529"/>
          <p:cNvSpPr/>
          <p:nvPr/>
        </p:nvSpPr>
        <p:spPr>
          <a:xfrm>
            <a:off x="1505160" y="6058080"/>
            <a:ext cx="424800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800" spc="-1" strike="noStrike">
                <a:solidFill>
                  <a:schemeClr val="lt1"/>
                </a:solidFill>
                <a:latin typeface="Arial"/>
                <a:ea typeface="Arial"/>
              </a:rPr>
              <a:t>What are these bits of code doing?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Sen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ten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ces 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or 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Lin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es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509"/>
          <p:cNvSpPr/>
          <p:nvPr/>
        </p:nvSpPr>
        <p:spPr>
          <a:xfrm>
            <a:off x="1554120" y="2730240"/>
            <a:ext cx="4002480" cy="40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ff9900"/>
                </a:solidFill>
                <a:latin typeface="Courier New"/>
                <a:ea typeface="Courier New"/>
              </a:rPr>
              <a:t>x</a:t>
            </a:r>
            <a:r>
              <a:rPr b="0" lang="en-US" sz="4800" spc="-1" strike="noStrike">
                <a:solidFill>
                  <a:srgbClr val="ff7f00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ffffff"/>
                </a:solidFill>
                <a:latin typeface="Courier New"/>
                <a:ea typeface="Courier New"/>
              </a:rPr>
              <a:t>=</a:t>
            </a:r>
            <a:r>
              <a:rPr b="0" lang="en-US" sz="4800" spc="-1" strike="noStrike">
                <a:solidFill>
                  <a:srgbClr val="ff7f00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00ffff"/>
                </a:solidFill>
                <a:latin typeface="Courier New"/>
                <a:ea typeface="Courier New"/>
              </a:rPr>
              <a:t>2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ff9900"/>
                </a:solidFill>
                <a:latin typeface="Courier New"/>
                <a:ea typeface="Courier New"/>
              </a:rPr>
              <a:t>x</a:t>
            </a:r>
            <a:r>
              <a:rPr b="0" lang="en-US" sz="4800" spc="-1" strike="noStrike">
                <a:solidFill>
                  <a:srgbClr val="ff7f00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ffffff"/>
                </a:solidFill>
                <a:latin typeface="Courier New"/>
                <a:ea typeface="Courier New"/>
              </a:rPr>
              <a:t>=</a:t>
            </a:r>
            <a:r>
              <a:rPr b="0" lang="en-US" sz="4800" spc="-1" strike="noStrike">
                <a:solidFill>
                  <a:srgbClr val="ff7f00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ff9900"/>
                </a:solidFill>
                <a:latin typeface="Courier New"/>
                <a:ea typeface="Courier New"/>
              </a:rPr>
              <a:t>x</a:t>
            </a:r>
            <a:r>
              <a:rPr b="0" lang="en-US" sz="4800" spc="-1" strike="noStrike">
                <a:solidFill>
                  <a:srgbClr val="ff7f00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ffffff"/>
                </a:solidFill>
                <a:latin typeface="Courier New"/>
                <a:ea typeface="Courier New"/>
              </a:rPr>
              <a:t>+</a:t>
            </a:r>
            <a:r>
              <a:rPr b="0" lang="en-US" sz="4800" spc="-1" strike="noStrike">
                <a:solidFill>
                  <a:srgbClr val="ff7f00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00ffff"/>
                </a:solidFill>
                <a:latin typeface="Courier New"/>
                <a:ea typeface="Courier New"/>
              </a:rPr>
              <a:t>2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4800" spc="-1" strike="noStrike">
                <a:solidFill>
                  <a:srgbClr val="ff9900"/>
                </a:solidFill>
                <a:latin typeface="Courier New"/>
                <a:ea typeface="Courier New"/>
              </a:rPr>
              <a:t>x</a:t>
            </a:r>
            <a:r>
              <a:rPr b="0" lang="en-US" sz="48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510"/>
          <p:cNvSpPr/>
          <p:nvPr/>
        </p:nvSpPr>
        <p:spPr>
          <a:xfrm>
            <a:off x="1323000" y="7037280"/>
            <a:ext cx="2340360" cy="7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200" spc="-1" strike="noStrike">
                <a:solidFill>
                  <a:srgbClr val="ff9900"/>
                </a:solidFill>
                <a:latin typeface="Arial"/>
                <a:ea typeface="Arial"/>
              </a:rPr>
              <a:t>Variable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511"/>
          <p:cNvSpPr/>
          <p:nvPr/>
        </p:nvSpPr>
        <p:spPr>
          <a:xfrm>
            <a:off x="4696200" y="7037280"/>
            <a:ext cx="2196000" cy="7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Operator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512"/>
          <p:cNvSpPr/>
          <p:nvPr/>
        </p:nvSpPr>
        <p:spPr>
          <a:xfrm>
            <a:off x="8080920" y="7088400"/>
            <a:ext cx="2454840" cy="7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200" spc="-1" strike="noStrike">
                <a:solidFill>
                  <a:srgbClr val="00ffff"/>
                </a:solidFill>
                <a:latin typeface="Arial"/>
                <a:ea typeface="Arial"/>
              </a:rPr>
              <a:t>Constant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513"/>
          <p:cNvSpPr/>
          <p:nvPr/>
        </p:nvSpPr>
        <p:spPr>
          <a:xfrm>
            <a:off x="11589480" y="7103880"/>
            <a:ext cx="3008880" cy="7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200" spc="-1" strike="noStrike">
                <a:solidFill>
                  <a:srgbClr val="ffff00"/>
                </a:solidFill>
                <a:latin typeface="Arial"/>
                <a:ea typeface="Arial"/>
              </a:rPr>
              <a:t>Function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514"/>
          <p:cNvSpPr/>
          <p:nvPr/>
        </p:nvSpPr>
        <p:spPr>
          <a:xfrm>
            <a:off x="7213680" y="2717640"/>
            <a:ext cx="8806320" cy="40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5400" spc="-1" strike="noStrike">
                <a:solidFill>
                  <a:schemeClr val="lt1"/>
                </a:solidFill>
                <a:latin typeface="Arial"/>
                <a:ea typeface="Arial"/>
              </a:rPr>
              <a:t>Assignment statement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5400" spc="-1" strike="noStrike">
                <a:solidFill>
                  <a:schemeClr val="lt1"/>
                </a:solidFill>
                <a:latin typeface="Arial"/>
                <a:ea typeface="Arial"/>
              </a:rPr>
              <a:t>Assignment with expression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5400" spc="-1" strike="noStrike">
                <a:solidFill>
                  <a:schemeClr val="lt1"/>
                </a:solidFill>
                <a:latin typeface="Arial"/>
                <a:ea typeface="Arial"/>
              </a:rPr>
              <a:t>Print statement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4" name="Shape 515"/>
          <p:cNvCxnSpPr/>
          <p:nvPr/>
        </p:nvCxnSpPr>
        <p:spPr>
          <a:xfrm flipV="1">
            <a:off x="5308560" y="3886200"/>
            <a:ext cx="1331280" cy="18360"/>
          </a:xfrm>
          <a:prstGeom prst="straightConnector1">
            <a:avLst/>
          </a:prstGeom>
          <a:ln cap="rnd" w="63500">
            <a:solidFill>
              <a:srgbClr val="ffffff"/>
            </a:solidFill>
            <a:miter/>
            <a:headEnd len="med" type="stealth" w="med"/>
          </a:ln>
        </p:spPr>
      </p:cxnSp>
      <p:cxnSp>
        <p:nvCxnSpPr>
          <p:cNvPr id="85" name="Shape 516"/>
          <p:cNvCxnSpPr/>
          <p:nvPr/>
        </p:nvCxnSpPr>
        <p:spPr>
          <a:xfrm flipV="1">
            <a:off x="5816520" y="4734000"/>
            <a:ext cx="934560" cy="8640"/>
          </a:xfrm>
          <a:prstGeom prst="straightConnector1">
            <a:avLst/>
          </a:prstGeom>
          <a:ln cap="rnd" w="63500">
            <a:solidFill>
              <a:srgbClr val="ffffff"/>
            </a:solidFill>
            <a:miter/>
            <a:headEnd len="med" type="stealth" w="med"/>
          </a:ln>
        </p:spPr>
      </p:cxnSp>
      <p:cxnSp>
        <p:nvCxnSpPr>
          <p:cNvPr id="86" name="Shape 517"/>
          <p:cNvCxnSpPr/>
          <p:nvPr/>
        </p:nvCxnSpPr>
        <p:spPr>
          <a:xfrm flipV="1">
            <a:off x="5384520" y="5562360"/>
            <a:ext cx="1331280" cy="18720"/>
          </a:xfrm>
          <a:prstGeom prst="straightConnector1">
            <a:avLst/>
          </a:prstGeom>
          <a:ln cap="rnd" w="63500">
            <a:solidFill>
              <a:srgbClr val="ffffff"/>
            </a:solidFill>
            <a:miter/>
            <a:head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Ass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ign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me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nt 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Stat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em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ent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14629320" cy="314208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457200" indent="-457200">
              <a:lnSpc>
                <a:spcPct val="100000"/>
              </a:lnSpc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We assign a value to a variable using the 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assignment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statement (=)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An 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assignment statement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consists of an 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expression on the </a:t>
            </a:r>
            <a:br>
              <a:rPr sz="3600"/>
            </a:b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right-hand side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and a </a:t>
            </a:r>
            <a:r>
              <a:rPr b="0" lang="en-US" sz="3600" spc="-1" strike="noStrike">
                <a:solidFill>
                  <a:srgbClr val="00ff00"/>
                </a:solidFill>
                <a:latin typeface="Arial"/>
                <a:ea typeface="Arial"/>
              </a:rPr>
              <a:t>variable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to store the result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314"/>
          <p:cNvSpPr/>
          <p:nvPr/>
        </p:nvSpPr>
        <p:spPr>
          <a:xfrm>
            <a:off x="4251960" y="6134040"/>
            <a:ext cx="100778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ff00"/>
                </a:solidFill>
                <a:latin typeface="Courier New"/>
                <a:ea typeface="Courier New"/>
              </a:rPr>
              <a:t>x</a:t>
            </a:r>
            <a:r>
              <a:rPr b="0" lang="en-US" sz="4000" spc="-1" strike="noStrike">
                <a:solidFill>
                  <a:schemeClr val="lt1"/>
                </a:solidFill>
                <a:latin typeface="Courier New"/>
                <a:ea typeface="Courier New"/>
              </a:rPr>
              <a:t> = 3.9 </a:t>
            </a:r>
            <a:r>
              <a:rPr b="0" lang="en-US" sz="4000" spc="-1" strike="noStrike">
                <a:solidFill>
                  <a:srgbClr val="00ffff"/>
                </a:solidFill>
                <a:latin typeface="Courier New"/>
                <a:ea typeface="Courier New"/>
              </a:rPr>
              <a:t>*</a:t>
            </a:r>
            <a:r>
              <a:rPr b="0" lang="en-US" sz="4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r>
              <a:rPr b="0" lang="en-US" sz="4000" spc="-1" strike="noStrike">
                <a:solidFill>
                  <a:srgbClr val="00ff00"/>
                </a:solidFill>
                <a:latin typeface="Courier New"/>
                <a:ea typeface="Courier New"/>
              </a:rPr>
              <a:t>x </a:t>
            </a:r>
            <a:r>
              <a:rPr b="0" lang="en-US" sz="4000" spc="-1" strike="noStrike">
                <a:solidFill>
                  <a:srgbClr val="00ffff"/>
                </a:solidFill>
                <a:latin typeface="Courier New"/>
                <a:ea typeface="Courier New"/>
              </a:rPr>
              <a:t>*</a:t>
            </a:r>
            <a:r>
              <a:rPr b="0" lang="en-US" sz="4000" spc="-1" strike="noStrike">
                <a:solidFill>
                  <a:schemeClr val="lt1"/>
                </a:solidFill>
                <a:latin typeface="Courier New"/>
                <a:ea typeface="Courier New"/>
              </a:rPr>
              <a:t> ( 1 </a:t>
            </a:r>
            <a:r>
              <a:rPr b="0" lang="en-US" sz="4000" spc="-1" strike="noStrike">
                <a:solidFill>
                  <a:srgbClr val="00ffff"/>
                </a:solidFill>
                <a:latin typeface="Courier New"/>
                <a:ea typeface="Courier New"/>
              </a:rPr>
              <a:t>-</a:t>
            </a:r>
            <a:r>
              <a:rPr b="0" lang="en-US" sz="4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r>
              <a:rPr b="0" lang="en-US" sz="4000" spc="-1" strike="noStrike">
                <a:solidFill>
                  <a:srgbClr val="00ff00"/>
                </a:solidFill>
                <a:latin typeface="Courier New"/>
                <a:ea typeface="Courier New"/>
              </a:rPr>
              <a:t>x</a:t>
            </a:r>
            <a:r>
              <a:rPr b="0" lang="en-US" sz="4000" spc="-1" strike="noStrike">
                <a:solidFill>
                  <a:schemeClr val="lt1"/>
                </a:solidFill>
                <a:latin typeface="Courier New"/>
                <a:ea typeface="Courier New"/>
              </a:rPr>
              <a:t> )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315"/>
          <p:cNvSpPr/>
          <p:nvPr/>
        </p:nvSpPr>
        <p:spPr>
          <a:xfrm>
            <a:off x="5248800" y="6081840"/>
            <a:ext cx="6323400" cy="1065600"/>
          </a:xfrm>
          <a:prstGeom prst="rect">
            <a:avLst/>
          </a:prstGeom>
          <a:noFill/>
          <a:ln cap="rnd" w="508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0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320"/>
          <p:cNvSpPr/>
          <p:nvPr/>
        </p:nvSpPr>
        <p:spPr>
          <a:xfrm>
            <a:off x="6362640" y="3397320"/>
            <a:ext cx="8843040" cy="11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ff00"/>
                </a:solidFill>
                <a:latin typeface="Courier New"/>
                <a:ea typeface="Courier New"/>
              </a:rPr>
              <a:t>x</a:t>
            </a:r>
            <a:r>
              <a:rPr b="0" lang="en-US" sz="4000" spc="-1" strike="noStrike">
                <a:solidFill>
                  <a:srgbClr val="ff00ff"/>
                </a:solidFill>
                <a:latin typeface="Courier New"/>
                <a:ea typeface="Courier New"/>
              </a:rPr>
              <a:t> </a:t>
            </a:r>
            <a:r>
              <a:rPr b="0" lang="en-US" sz="4000" spc="-1" strike="noStrike">
                <a:solidFill>
                  <a:srgbClr val="ffffff"/>
                </a:solidFill>
                <a:latin typeface="Courier New"/>
                <a:ea typeface="Courier New"/>
              </a:rPr>
              <a:t>=</a:t>
            </a:r>
            <a:r>
              <a:rPr b="0" lang="en-US" sz="4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r>
              <a:rPr b="0" lang="en-US" sz="4000" spc="-1" strike="noStrike">
                <a:solidFill>
                  <a:srgbClr val="ffff00"/>
                </a:solidFill>
                <a:latin typeface="Courier New"/>
                <a:ea typeface="Courier New"/>
              </a:rPr>
              <a:t>3.9 *  x  * ( 1  -  x )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321"/>
          <p:cNvSpPr/>
          <p:nvPr/>
        </p:nvSpPr>
        <p:spPr>
          <a:xfrm>
            <a:off x="10667880" y="851040"/>
            <a:ext cx="5015520" cy="1269000"/>
          </a:xfrm>
          <a:prstGeom prst="rect">
            <a:avLst/>
          </a:prstGeom>
          <a:noFill/>
          <a:ln w="76200">
            <a:solidFill>
              <a:srgbClr val="00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9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0" lang="en-US" sz="4900" spc="-1" strike="noStrike">
                <a:solidFill>
                  <a:schemeClr val="lt1"/>
                </a:solidFill>
                <a:latin typeface="Arial"/>
                <a:ea typeface="Arial"/>
              </a:rPr>
              <a:t>0.6</a:t>
            </a:r>
            <a:endParaRPr b="0" lang="en-US" sz="4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322"/>
          <p:cNvSpPr/>
          <p:nvPr/>
        </p:nvSpPr>
        <p:spPr>
          <a:xfrm>
            <a:off x="9813960" y="1047600"/>
            <a:ext cx="44352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5200" spc="-1" strike="noStrike">
                <a:solidFill>
                  <a:srgbClr val="00ff00"/>
                </a:solidFill>
                <a:latin typeface="Arial"/>
                <a:ea typeface="Arial"/>
              </a:rPr>
              <a:t>x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323"/>
          <p:cNvSpPr/>
          <p:nvPr/>
        </p:nvSpPr>
        <p:spPr>
          <a:xfrm>
            <a:off x="581040" y="6354720"/>
            <a:ext cx="7723800" cy="16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The right side is an expression. </a:t>
            </a:r>
            <a:br>
              <a:rPr sz="3600"/>
            </a:br>
            <a:r>
              <a:rPr b="0" lang="en-US" sz="3600" spc="-1" strike="noStrike">
                <a:solidFill>
                  <a:srgbClr val="ff9900"/>
                </a:solidFill>
                <a:latin typeface="Arial"/>
                <a:ea typeface="Arial"/>
              </a:rPr>
              <a:t>Once the expression is evaluated,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0" lang="en-US" sz="3600" spc="-1" strike="noStrike">
                <a:solidFill>
                  <a:srgbClr val="00ff00"/>
                </a:solidFill>
                <a:latin typeface="Arial"/>
                <a:ea typeface="Arial"/>
              </a:rPr>
              <a:t>the result is placed in (assigned to) x.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324"/>
          <p:cNvSpPr/>
          <p:nvPr/>
        </p:nvSpPr>
        <p:spPr>
          <a:xfrm>
            <a:off x="9423360" y="3085920"/>
            <a:ext cx="8989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0.6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325"/>
          <p:cNvSpPr/>
          <p:nvPr/>
        </p:nvSpPr>
        <p:spPr>
          <a:xfrm>
            <a:off x="13244760" y="3192120"/>
            <a:ext cx="1062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0.6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7" name="Shape 326"/>
          <p:cNvCxnSpPr/>
          <p:nvPr/>
        </p:nvCxnSpPr>
        <p:spPr>
          <a:xfrm flipV="1">
            <a:off x="10100160" y="2129040"/>
            <a:ext cx="607680" cy="957960"/>
          </a:xfrm>
          <a:prstGeom prst="straightConnector1">
            <a:avLst/>
          </a:prstGeom>
          <a:ln cap="rnd" w="63500">
            <a:solidFill>
              <a:srgbClr val="ffffff"/>
            </a:solidFill>
            <a:miter/>
            <a:headEnd len="med" type="stealth" w="med"/>
          </a:ln>
        </p:spPr>
      </p:cxnSp>
      <p:cxnSp>
        <p:nvCxnSpPr>
          <p:cNvPr id="98" name="Shape 327"/>
          <p:cNvCxnSpPr/>
          <p:nvPr/>
        </p:nvCxnSpPr>
        <p:spPr>
          <a:xfrm flipH="1" flipV="1">
            <a:off x="11739240" y="2129040"/>
            <a:ext cx="1697760" cy="1148400"/>
          </a:xfrm>
          <a:prstGeom prst="straightConnector1">
            <a:avLst/>
          </a:prstGeom>
          <a:ln cap="rnd" w="63500">
            <a:solidFill>
              <a:srgbClr val="ffffff"/>
            </a:solidFill>
            <a:miter/>
            <a:headEnd len="med" type="stealth" w="med"/>
          </a:ln>
        </p:spPr>
      </p:cxnSp>
      <p:sp>
        <p:nvSpPr>
          <p:cNvPr id="99" name="Shape 328"/>
          <p:cNvSpPr/>
          <p:nvPr/>
        </p:nvSpPr>
        <p:spPr>
          <a:xfrm>
            <a:off x="12150720" y="5054760"/>
            <a:ext cx="1062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ff9900"/>
                </a:solidFill>
                <a:latin typeface="Arial"/>
                <a:ea typeface="Arial"/>
              </a:rPr>
              <a:t>0.4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0" name="Shape 329"/>
          <p:cNvCxnSpPr/>
          <p:nvPr/>
        </p:nvCxnSpPr>
        <p:spPr>
          <a:xfrm flipH="1" flipV="1">
            <a:off x="8084880" y="4457520"/>
            <a:ext cx="2395080" cy="2118960"/>
          </a:xfrm>
          <a:prstGeom prst="straightConnector1">
            <a:avLst/>
          </a:prstGeom>
          <a:ln cap="rnd" w="63500">
            <a:solidFill>
              <a:srgbClr val="ff9900"/>
            </a:solidFill>
            <a:miter/>
            <a:headEnd len="med" type="stealth" w="med"/>
          </a:ln>
        </p:spPr>
      </p:cxnSp>
      <p:cxnSp>
        <p:nvCxnSpPr>
          <p:cNvPr id="101" name="Shape 330"/>
          <p:cNvCxnSpPr>
            <a:stCxn id="102" idx="0"/>
          </p:cNvCxnSpPr>
          <p:nvPr/>
        </p:nvCxnSpPr>
        <p:spPr>
          <a:xfrm flipH="1" flipV="1">
            <a:off x="9988560" y="4457520"/>
            <a:ext cx="993240" cy="2118240"/>
          </a:xfrm>
          <a:prstGeom prst="straightConnector1">
            <a:avLst/>
          </a:prstGeom>
          <a:ln cap="rnd" w="63500">
            <a:solidFill>
              <a:srgbClr val="ff9900"/>
            </a:solidFill>
            <a:miter/>
            <a:headEnd len="med" type="stealth" w="med"/>
          </a:ln>
        </p:spPr>
      </p:cxnSp>
      <p:sp>
        <p:nvSpPr>
          <p:cNvPr id="102" name="Shape 332"/>
          <p:cNvSpPr/>
          <p:nvPr/>
        </p:nvSpPr>
        <p:spPr>
          <a:xfrm>
            <a:off x="10115640" y="6575400"/>
            <a:ext cx="17316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ff9900"/>
                </a:solidFill>
                <a:latin typeface="Arial"/>
                <a:ea typeface="Arial"/>
              </a:rPr>
              <a:t>0.936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3" name="Shape 333"/>
          <p:cNvCxnSpPr/>
          <p:nvPr/>
        </p:nvCxnSpPr>
        <p:spPr>
          <a:xfrm flipV="1">
            <a:off x="13166640" y="4579920"/>
            <a:ext cx="486720" cy="486720"/>
          </a:xfrm>
          <a:prstGeom prst="straightConnector1">
            <a:avLst/>
          </a:prstGeom>
          <a:ln cap="rnd" w="63500">
            <a:solidFill>
              <a:srgbClr val="ff9900"/>
            </a:solidFill>
            <a:miter/>
            <a:headEnd len="med" type="stealth" w="med"/>
          </a:ln>
        </p:spPr>
      </p:cxnSp>
      <p:cxnSp>
        <p:nvCxnSpPr>
          <p:cNvPr id="104" name="Shape 334"/>
          <p:cNvCxnSpPr/>
          <p:nvPr/>
        </p:nvCxnSpPr>
        <p:spPr>
          <a:xfrm flipH="1" flipV="1">
            <a:off x="11902680" y="4457520"/>
            <a:ext cx="522000" cy="661320"/>
          </a:xfrm>
          <a:prstGeom prst="straightConnector1">
            <a:avLst/>
          </a:prstGeom>
          <a:ln cap="rnd" w="63500">
            <a:solidFill>
              <a:srgbClr val="ff9900"/>
            </a:solidFill>
            <a:miter/>
            <a:headEnd len="med" type="stealth" w="med"/>
          </a:ln>
        </p:spPr>
      </p:cxnSp>
      <p:sp>
        <p:nvSpPr>
          <p:cNvPr id="105" name="Shape 335"/>
          <p:cNvSpPr/>
          <p:nvPr/>
        </p:nvSpPr>
        <p:spPr>
          <a:xfrm>
            <a:off x="581040" y="1085760"/>
            <a:ext cx="657756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ff00"/>
                </a:solidFill>
                <a:latin typeface="Arial"/>
                <a:ea typeface="Arial"/>
              </a:rPr>
              <a:t>A variable is a memory location used to store a value (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0.6</a:t>
            </a:r>
            <a:r>
              <a:rPr b="0" lang="en-US" sz="3600" spc="-1" strike="noStrike">
                <a:solidFill>
                  <a:srgbClr val="00ff00"/>
                </a:solidFill>
                <a:latin typeface="Arial"/>
                <a:ea typeface="Arial"/>
              </a:rPr>
              <a:t>)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6" name="Shape 331"/>
          <p:cNvCxnSpPr/>
          <p:nvPr/>
        </p:nvCxnSpPr>
        <p:spPr>
          <a:xfrm flipV="1">
            <a:off x="11453040" y="5676480"/>
            <a:ext cx="1076760" cy="900000"/>
          </a:xfrm>
          <a:prstGeom prst="straightConnector1">
            <a:avLst/>
          </a:prstGeom>
          <a:ln cap="rnd" w="63500">
            <a:solidFill>
              <a:srgbClr val="ff9900"/>
            </a:solidFill>
            <a:miter/>
            <a:head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320"/>
          <p:cNvSpPr/>
          <p:nvPr/>
        </p:nvSpPr>
        <p:spPr>
          <a:xfrm>
            <a:off x="6362640" y="3397320"/>
            <a:ext cx="8843040" cy="11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ff00"/>
                </a:solidFill>
                <a:latin typeface="Courier New"/>
                <a:ea typeface="Courier New"/>
              </a:rPr>
              <a:t>x</a:t>
            </a:r>
            <a:r>
              <a:rPr b="0" lang="en-US" sz="4000" spc="-1" strike="noStrike">
                <a:solidFill>
                  <a:srgbClr val="ff00ff"/>
                </a:solidFill>
                <a:latin typeface="Courier New"/>
                <a:ea typeface="Courier New"/>
              </a:rPr>
              <a:t> </a:t>
            </a:r>
            <a:r>
              <a:rPr b="0" lang="en-US" sz="4000" spc="-1" strike="noStrike">
                <a:solidFill>
                  <a:srgbClr val="ffffff"/>
                </a:solidFill>
                <a:latin typeface="Courier New"/>
                <a:ea typeface="Courier New"/>
              </a:rPr>
              <a:t>=</a:t>
            </a:r>
            <a:r>
              <a:rPr b="0" lang="en-US" sz="4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r>
              <a:rPr b="0" lang="en-US" sz="4000" spc="-1" strike="noStrike">
                <a:solidFill>
                  <a:srgbClr val="ffff00"/>
                </a:solidFill>
                <a:latin typeface="Courier New"/>
                <a:ea typeface="Courier New"/>
              </a:rPr>
              <a:t>3.9 *  x  * ( 1  -  x )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321"/>
          <p:cNvSpPr/>
          <p:nvPr/>
        </p:nvSpPr>
        <p:spPr>
          <a:xfrm>
            <a:off x="10667880" y="851040"/>
            <a:ext cx="5015520" cy="1269000"/>
          </a:xfrm>
          <a:prstGeom prst="rect">
            <a:avLst/>
          </a:prstGeom>
          <a:noFill/>
          <a:ln w="76200">
            <a:solidFill>
              <a:srgbClr val="00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49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0" lang="en-US" sz="4900" spc="-1" strike="noStrike">
                <a:solidFill>
                  <a:schemeClr val="lt1"/>
                </a:solidFill>
                <a:latin typeface="Arial"/>
                <a:ea typeface="Arial"/>
              </a:rPr>
              <a:t>0.6    0.936</a:t>
            </a:r>
            <a:endParaRPr b="0" lang="en-US" sz="4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322"/>
          <p:cNvSpPr/>
          <p:nvPr/>
        </p:nvSpPr>
        <p:spPr>
          <a:xfrm>
            <a:off x="9813960" y="1047600"/>
            <a:ext cx="44352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5200" spc="-1" strike="noStrike">
                <a:solidFill>
                  <a:srgbClr val="00ff00"/>
                </a:solidFill>
                <a:latin typeface="Arial"/>
                <a:ea typeface="Arial"/>
              </a:rPr>
              <a:t>x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328"/>
          <p:cNvSpPr/>
          <p:nvPr/>
        </p:nvSpPr>
        <p:spPr>
          <a:xfrm>
            <a:off x="12150720" y="5054760"/>
            <a:ext cx="1062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ff9900"/>
                </a:solidFill>
                <a:latin typeface="Arial"/>
                <a:ea typeface="Arial"/>
              </a:rPr>
              <a:t>0.4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1" name="Shape 331"/>
          <p:cNvCxnSpPr/>
          <p:nvPr/>
        </p:nvCxnSpPr>
        <p:spPr>
          <a:xfrm flipV="1">
            <a:off x="11453040" y="5676480"/>
            <a:ext cx="1076760" cy="900000"/>
          </a:xfrm>
          <a:prstGeom prst="straightConnector1">
            <a:avLst/>
          </a:prstGeom>
          <a:ln cap="rnd" w="63500">
            <a:solidFill>
              <a:srgbClr val="ff9900"/>
            </a:solidFill>
            <a:miter/>
            <a:headEnd len="med" type="stealth" w="med"/>
          </a:ln>
        </p:spPr>
      </p:cxnSp>
      <p:sp>
        <p:nvSpPr>
          <p:cNvPr id="112" name="Shape 332"/>
          <p:cNvSpPr/>
          <p:nvPr/>
        </p:nvSpPr>
        <p:spPr>
          <a:xfrm>
            <a:off x="10115640" y="6575400"/>
            <a:ext cx="17316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ff9900"/>
                </a:solidFill>
                <a:latin typeface="Arial"/>
                <a:ea typeface="Arial"/>
              </a:rPr>
              <a:t>0.936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3" name="Shape 333"/>
          <p:cNvCxnSpPr/>
          <p:nvPr/>
        </p:nvCxnSpPr>
        <p:spPr>
          <a:xfrm flipV="1">
            <a:off x="13166640" y="4579920"/>
            <a:ext cx="486720" cy="486720"/>
          </a:xfrm>
          <a:prstGeom prst="straightConnector1">
            <a:avLst/>
          </a:prstGeom>
          <a:ln cap="rnd" w="63500">
            <a:solidFill>
              <a:srgbClr val="ff9900"/>
            </a:solidFill>
            <a:miter/>
            <a:headEnd len="med" type="stealth" w="med"/>
          </a:ln>
        </p:spPr>
      </p:cxnSp>
      <p:cxnSp>
        <p:nvCxnSpPr>
          <p:cNvPr id="114" name="Shape 334"/>
          <p:cNvCxnSpPr/>
          <p:nvPr/>
        </p:nvCxnSpPr>
        <p:spPr>
          <a:xfrm flipH="1" flipV="1">
            <a:off x="11902680" y="4457520"/>
            <a:ext cx="522000" cy="661320"/>
          </a:xfrm>
          <a:prstGeom prst="straightConnector1">
            <a:avLst/>
          </a:prstGeom>
          <a:ln cap="rnd" w="63500">
            <a:solidFill>
              <a:srgbClr val="ff9900"/>
            </a:solidFill>
            <a:miter/>
            <a:headEnd len="med" type="stealth" w="med"/>
          </a:ln>
        </p:spPr>
      </p:cxnSp>
      <p:cxnSp>
        <p:nvCxnSpPr>
          <p:cNvPr id="115" name="Shape 348"/>
          <p:cNvCxnSpPr/>
          <p:nvPr/>
        </p:nvCxnSpPr>
        <p:spPr>
          <a:xfrm flipH="1">
            <a:off x="10944000" y="1039680"/>
            <a:ext cx="764640" cy="887040"/>
          </a:xfrm>
          <a:prstGeom prst="straightConnector1">
            <a:avLst/>
          </a:prstGeom>
          <a:ln cap="rnd" w="63500">
            <a:solidFill>
              <a:srgbClr val="ffff00"/>
            </a:solidFill>
            <a:miter/>
          </a:ln>
        </p:spPr>
      </p:cxnSp>
      <p:cxnSp>
        <p:nvCxnSpPr>
          <p:cNvPr id="116" name="Shape 349"/>
          <p:cNvCxnSpPr/>
          <p:nvPr/>
        </p:nvCxnSpPr>
        <p:spPr>
          <a:xfrm>
            <a:off x="10944000" y="1022040"/>
            <a:ext cx="574200" cy="799920"/>
          </a:xfrm>
          <a:prstGeom prst="straightConnector1">
            <a:avLst/>
          </a:prstGeom>
          <a:ln cap="rnd" w="63500">
            <a:solidFill>
              <a:srgbClr val="ffff00"/>
            </a:solidFill>
            <a:miter/>
          </a:ln>
        </p:spPr>
      </p:cxnSp>
      <p:sp>
        <p:nvSpPr>
          <p:cNvPr id="117" name="Shape 343"/>
          <p:cNvSpPr/>
          <p:nvPr/>
        </p:nvSpPr>
        <p:spPr>
          <a:xfrm>
            <a:off x="618480" y="5851440"/>
            <a:ext cx="7662960" cy="20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00"/>
                </a:solidFill>
                <a:latin typeface="Arial"/>
                <a:ea typeface="Arial"/>
              </a:rPr>
              <a:t>The right side is an expression. </a:t>
            </a: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0" lang="en-US" sz="3200" spc="-1" strike="noStrike">
                <a:solidFill>
                  <a:srgbClr val="ff9900"/>
                </a:solidFill>
                <a:latin typeface="Arial"/>
                <a:ea typeface="Arial"/>
              </a:rPr>
              <a:t>Once the expression is evaluated,</a:t>
            </a: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0" lang="en-US" sz="3200" spc="-1" strike="noStrike">
                <a:solidFill>
                  <a:srgbClr val="00ff00"/>
                </a:solidFill>
                <a:latin typeface="Arial"/>
                <a:ea typeface="Arial"/>
              </a:rPr>
              <a:t>the result is placed in (assigned to) the variable on the left side (i.e., x).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346"/>
          <p:cNvSpPr/>
          <p:nvPr/>
        </p:nvSpPr>
        <p:spPr>
          <a:xfrm>
            <a:off x="581040" y="851040"/>
            <a:ext cx="7503120" cy="21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00ff00"/>
                </a:solidFill>
                <a:latin typeface="Arial"/>
                <a:ea typeface="Arial"/>
              </a:rPr>
              <a:t>A variable is a memory location used to store a value.  The value stored in a variable can be updated by replacing the old value (</a:t>
            </a:r>
            <a:r>
              <a:rPr b="0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0.6</a:t>
            </a:r>
            <a:r>
              <a:rPr b="0" lang="en-US" sz="3200" spc="-1" strike="noStrike">
                <a:solidFill>
                  <a:srgbClr val="00ff00"/>
                </a:solidFill>
                <a:latin typeface="Arial"/>
                <a:ea typeface="Arial"/>
              </a:rPr>
              <a:t>) with a new value (</a:t>
            </a:r>
            <a:r>
              <a:rPr b="0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0.936</a:t>
            </a:r>
            <a:r>
              <a:rPr b="0" lang="en-US" sz="3200" spc="-1" strike="noStrike">
                <a:solidFill>
                  <a:srgbClr val="00ff00"/>
                </a:solidFill>
                <a:latin typeface="Arial"/>
                <a:ea typeface="Arial"/>
              </a:rPr>
              <a:t>).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324"/>
          <p:cNvSpPr/>
          <p:nvPr/>
        </p:nvSpPr>
        <p:spPr>
          <a:xfrm>
            <a:off x="9423360" y="3085920"/>
            <a:ext cx="8989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0.6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325"/>
          <p:cNvSpPr/>
          <p:nvPr/>
        </p:nvSpPr>
        <p:spPr>
          <a:xfrm>
            <a:off x="13244760" y="3192120"/>
            <a:ext cx="1062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0.6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21" name="Shape 326"/>
          <p:cNvCxnSpPr/>
          <p:nvPr/>
        </p:nvCxnSpPr>
        <p:spPr>
          <a:xfrm flipV="1">
            <a:off x="10100160" y="2129040"/>
            <a:ext cx="607680" cy="957960"/>
          </a:xfrm>
          <a:prstGeom prst="straightConnector1">
            <a:avLst/>
          </a:prstGeom>
          <a:ln cap="rnd" w="63500">
            <a:solidFill>
              <a:srgbClr val="ffffff"/>
            </a:solidFill>
            <a:miter/>
            <a:headEnd len="med" type="stealth" w="med"/>
          </a:ln>
        </p:spPr>
      </p:cxnSp>
      <p:cxnSp>
        <p:nvCxnSpPr>
          <p:cNvPr id="122" name="Shape 327"/>
          <p:cNvCxnSpPr/>
          <p:nvPr/>
        </p:nvCxnSpPr>
        <p:spPr>
          <a:xfrm flipH="1" flipV="1">
            <a:off x="11739240" y="2129040"/>
            <a:ext cx="1697760" cy="1148400"/>
          </a:xfrm>
          <a:prstGeom prst="straightConnector1">
            <a:avLst/>
          </a:prstGeom>
          <a:ln cap="rnd" w="63500">
            <a:solidFill>
              <a:srgbClr val="ffffff"/>
            </a:solidFill>
            <a:miter/>
            <a:headEnd len="med" type="stealth" w="med"/>
          </a:ln>
        </p:spPr>
      </p:cxnSp>
      <p:cxnSp>
        <p:nvCxnSpPr>
          <p:cNvPr id="123" name="Shape 329"/>
          <p:cNvCxnSpPr/>
          <p:nvPr/>
        </p:nvCxnSpPr>
        <p:spPr>
          <a:xfrm flipH="1" flipV="1">
            <a:off x="8084880" y="4457520"/>
            <a:ext cx="2395080" cy="2118960"/>
          </a:xfrm>
          <a:prstGeom prst="straightConnector1">
            <a:avLst/>
          </a:prstGeom>
          <a:ln cap="rnd" w="63500">
            <a:solidFill>
              <a:srgbClr val="ff9900"/>
            </a:solidFill>
            <a:miter/>
            <a:headEnd len="med" type="stealth" w="med"/>
          </a:ln>
        </p:spPr>
      </p:cxnSp>
      <p:cxnSp>
        <p:nvCxnSpPr>
          <p:cNvPr id="124" name="Shape 330"/>
          <p:cNvCxnSpPr/>
          <p:nvPr/>
        </p:nvCxnSpPr>
        <p:spPr>
          <a:xfrm flipH="1" flipV="1">
            <a:off x="9988560" y="4457520"/>
            <a:ext cx="994320" cy="2118960"/>
          </a:xfrm>
          <a:prstGeom prst="straightConnector1">
            <a:avLst/>
          </a:prstGeom>
          <a:ln cap="rnd" w="63500">
            <a:solidFill>
              <a:srgbClr val="ff9900"/>
            </a:solidFill>
            <a:miter/>
            <a:head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155600" y="1536840"/>
            <a:ext cx="13930920" cy="30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ffd966"/>
                </a:solidFill>
                <a:latin typeface="Arial"/>
                <a:ea typeface="Arial"/>
              </a:rPr>
              <a:t>Expressions</a:t>
            </a:r>
            <a:r>
              <a:rPr b="0" lang="is-IS" sz="7200" spc="-1" strike="noStrike">
                <a:solidFill>
                  <a:srgbClr val="ffd966"/>
                </a:solidFill>
                <a:latin typeface="Arial"/>
                <a:ea typeface="Arial"/>
              </a:rPr>
              <a:t>…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Nu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mer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ic 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Exp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res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sion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9034920" cy="603288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749160" indent="-371160">
              <a:lnSpc>
                <a:spcPct val="100000"/>
              </a:lnSpc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Because of the lack of mathematical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symbols on computer keyboards -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we use “computer-speak” to express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the classic math operations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Asterisk is multiplication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Exponentiation (raise to a power)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looks different than in math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28" name="Shape 356"/>
          <p:cNvGraphicFramePr/>
          <p:nvPr/>
        </p:nvGraphicFramePr>
        <p:xfrm>
          <a:off x="10337760" y="2289240"/>
          <a:ext cx="5024520" cy="6361920"/>
        </p:xfrm>
        <a:graphic>
          <a:graphicData uri="http://schemas.openxmlformats.org/drawingml/2006/table">
            <a:tbl>
              <a:tblPr/>
              <a:tblGrid>
                <a:gridCol w="2398320"/>
                <a:gridCol w="2626560"/>
              </a:tblGrid>
              <a:tr h="79524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2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Operator</a:t>
                      </a:r>
                      <a:endParaRPr b="0" lang="en-US" sz="3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>
                        <a:alpha val="49000"/>
                      </a:srgbClr>
                    </a:solidFill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2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Operation</a:t>
                      </a:r>
                      <a:endParaRPr b="0" lang="en-US" sz="3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>
                        <a:alpha val="49000"/>
                      </a:srgbClr>
                    </a:solidFill>
                  </a:tcPr>
                </a:tc>
              </a:tr>
              <a:tr h="79524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1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+</a:t>
                      </a:r>
                      <a:endParaRPr b="0" lang="en-US" sz="3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1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Addition</a:t>
                      </a:r>
                      <a:endParaRPr b="0" lang="en-US" sz="3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79524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1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3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1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Subtraction</a:t>
                      </a:r>
                      <a:endParaRPr b="0" lang="en-US" sz="3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79524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1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*</a:t>
                      </a:r>
                      <a:endParaRPr b="0" lang="en-US" sz="3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1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Multiplication</a:t>
                      </a:r>
                      <a:endParaRPr b="0" lang="en-US" sz="3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79524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1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/</a:t>
                      </a:r>
                      <a:endParaRPr b="0" lang="en-US" sz="3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1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Division</a:t>
                      </a:r>
                      <a:endParaRPr b="0" lang="en-US" sz="3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79524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1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**</a:t>
                      </a:r>
                      <a:endParaRPr b="0" lang="en-US" sz="3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1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Power</a:t>
                      </a:r>
                      <a:endParaRPr b="0" lang="en-US" sz="3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79524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1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//</a:t>
                      </a:r>
                      <a:endParaRPr b="0" lang="en-US" sz="3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1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Floor Division</a:t>
                      </a:r>
                      <a:endParaRPr b="0" lang="en-US" sz="3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79524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1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%</a:t>
                      </a:r>
                      <a:endParaRPr b="0" lang="en-US" sz="3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31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Remainder</a:t>
                      </a:r>
                      <a:endParaRPr b="0" lang="en-US" sz="3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361"/>
          <p:cNvSpPr/>
          <p:nvPr/>
        </p:nvSpPr>
        <p:spPr>
          <a:xfrm>
            <a:off x="1727280" y="2230200"/>
            <a:ext cx="4460040" cy="53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1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xx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= 2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1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xx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= </a:t>
            </a:r>
            <a:r>
              <a:rPr b="1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xx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r>
              <a:rPr b="1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+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2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1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1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xx</a:t>
            </a:r>
            <a:r>
              <a:rPr b="1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4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1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yy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= 440 </a:t>
            </a:r>
            <a:r>
              <a:rPr b="1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*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12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1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1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yy</a:t>
            </a:r>
            <a:r>
              <a:rPr b="1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5280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1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zz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= </a:t>
            </a:r>
            <a:r>
              <a:rPr b="1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yy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r>
              <a:rPr b="1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/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1000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1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1" lang="en-US" sz="3000" spc="-1" strike="noStrike">
                <a:solidFill>
                  <a:srgbClr val="00fa00"/>
                </a:solidFill>
                <a:latin typeface="Courier New"/>
                <a:ea typeface="Courier New"/>
              </a:rPr>
              <a:t>zz</a:t>
            </a:r>
            <a:r>
              <a:rPr b="1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5.28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362"/>
          <p:cNvSpPr/>
          <p:nvPr/>
        </p:nvSpPr>
        <p:spPr>
          <a:xfrm>
            <a:off x="7074000" y="2298600"/>
            <a:ext cx="4355280" cy="32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</a:t>
            </a:r>
            <a:r>
              <a:rPr b="1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 jj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= 23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1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kk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= </a:t>
            </a:r>
            <a:r>
              <a:rPr b="1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jj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r>
              <a:rPr b="1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% 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5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1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1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kk</a:t>
            </a:r>
            <a:r>
              <a:rPr b="1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c000"/>
                </a:solidFill>
                <a:latin typeface="Courier New"/>
                <a:ea typeface="Courier New"/>
              </a:rPr>
              <a:t>3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1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4 </a:t>
            </a:r>
            <a:r>
              <a:rPr b="1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**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3</a:t>
            </a:r>
            <a:r>
              <a:rPr b="1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64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print(23 </a:t>
            </a:r>
            <a:r>
              <a:rPr b="1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//</a:t>
            </a: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5)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4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31" name="Shape 363"/>
          <p:cNvGraphicFramePr/>
          <p:nvPr/>
        </p:nvGraphicFramePr>
        <p:xfrm>
          <a:off x="11783880" y="2965320"/>
          <a:ext cx="3751560" cy="5204160"/>
        </p:xfrm>
        <a:graphic>
          <a:graphicData uri="http://schemas.openxmlformats.org/drawingml/2006/table">
            <a:tbl>
              <a:tblPr/>
              <a:tblGrid>
                <a:gridCol w="1875960"/>
                <a:gridCol w="1875960"/>
              </a:tblGrid>
              <a:tr h="65052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Operator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>
                        <a:alpha val="49000"/>
                      </a:srgbClr>
                    </a:solidFill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Operation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rgbClr val="7f7f7f">
                        <a:alpha val="49000"/>
                      </a:srgbClr>
                    </a:solidFill>
                  </a:tcPr>
                </a:tc>
              </a:tr>
              <a:tr h="65052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3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+</a:t>
                      </a:r>
                      <a:endParaRPr b="0" lang="en-US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3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Addition</a:t>
                      </a:r>
                      <a:endParaRPr b="0" lang="en-US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65052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3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3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Subtraction</a:t>
                      </a:r>
                      <a:endParaRPr b="0" lang="en-US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65052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3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*</a:t>
                      </a:r>
                      <a:endParaRPr b="0" lang="en-US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3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Multiplication</a:t>
                      </a:r>
                      <a:endParaRPr b="0" lang="en-US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65052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3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/</a:t>
                      </a:r>
                      <a:endParaRPr b="0" lang="en-US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3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Division</a:t>
                      </a:r>
                      <a:endParaRPr b="0" lang="en-US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65052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3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**</a:t>
                      </a:r>
                      <a:endParaRPr b="0" lang="en-US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3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Power</a:t>
                      </a:r>
                      <a:endParaRPr b="0" lang="en-US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65052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3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//</a:t>
                      </a:r>
                      <a:endParaRPr b="0" lang="en-US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3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Floor Division</a:t>
                      </a:r>
                      <a:endParaRPr b="0" lang="en-US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650520"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300" spc="-1" strike="noStrike">
                          <a:solidFill>
                            <a:srgbClr val="00ffff"/>
                          </a:solidFill>
                          <a:latin typeface="Arial"/>
                          <a:ea typeface="Arial"/>
                        </a:rPr>
                        <a:t>%</a:t>
                      </a:r>
                      <a:endParaRPr b="0" lang="en-US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3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Remainder</a:t>
                      </a:r>
                      <a:endParaRPr b="0" lang="en-US" sz="2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32" name="Shape 364"/>
          <p:cNvCxnSpPr/>
          <p:nvPr/>
        </p:nvCxnSpPr>
        <p:spPr>
          <a:xfrm>
            <a:off x="8432640" y="6369480"/>
            <a:ext cx="13680" cy="596520"/>
          </a:xfrm>
          <a:prstGeom prst="straightConnector1">
            <a:avLst/>
          </a:prstGeom>
          <a:ln cap="rnd" w="25400">
            <a:solidFill>
              <a:srgbClr val="ffffff"/>
            </a:solidFill>
            <a:miter/>
          </a:ln>
        </p:spPr>
      </p:cxnSp>
      <p:cxnSp>
        <p:nvCxnSpPr>
          <p:cNvPr id="133" name="Shape 365"/>
          <p:cNvCxnSpPr/>
          <p:nvPr/>
        </p:nvCxnSpPr>
        <p:spPr>
          <a:xfrm flipV="1">
            <a:off x="8432640" y="6354000"/>
            <a:ext cx="2036160" cy="26640"/>
          </a:xfrm>
          <a:prstGeom prst="straightConnector1">
            <a:avLst/>
          </a:prstGeom>
          <a:ln cap="rnd" w="25400">
            <a:solidFill>
              <a:srgbClr val="ffffff"/>
            </a:solidFill>
            <a:miter/>
          </a:ln>
        </p:spPr>
      </p:cxnSp>
      <p:sp>
        <p:nvSpPr>
          <p:cNvPr id="134" name="Shape 366"/>
          <p:cNvSpPr/>
          <p:nvPr/>
        </p:nvSpPr>
        <p:spPr>
          <a:xfrm>
            <a:off x="7807320" y="6417720"/>
            <a:ext cx="341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5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367"/>
          <p:cNvSpPr/>
          <p:nvPr/>
        </p:nvSpPr>
        <p:spPr>
          <a:xfrm>
            <a:off x="8572680" y="6417720"/>
            <a:ext cx="5706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23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368"/>
          <p:cNvSpPr/>
          <p:nvPr/>
        </p:nvSpPr>
        <p:spPr>
          <a:xfrm>
            <a:off x="8817120" y="5749560"/>
            <a:ext cx="10990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4 R 3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369"/>
          <p:cNvSpPr/>
          <p:nvPr/>
        </p:nvSpPr>
        <p:spPr>
          <a:xfrm>
            <a:off x="8572680" y="6874920"/>
            <a:ext cx="5706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20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8" name="Shape 370"/>
          <p:cNvCxnSpPr/>
          <p:nvPr/>
        </p:nvCxnSpPr>
        <p:spPr>
          <a:xfrm>
            <a:off x="8496000" y="7584480"/>
            <a:ext cx="585360" cy="1080"/>
          </a:xfrm>
          <a:prstGeom prst="straightConnector1">
            <a:avLst/>
          </a:prstGeom>
          <a:ln cap="rnd" w="25400">
            <a:solidFill>
              <a:srgbClr val="ffffff"/>
            </a:solidFill>
            <a:miter/>
          </a:ln>
        </p:spPr>
      </p:cxnSp>
      <p:sp>
        <p:nvSpPr>
          <p:cNvPr id="139" name="Shape 371"/>
          <p:cNvSpPr/>
          <p:nvPr/>
        </p:nvSpPr>
        <p:spPr>
          <a:xfrm>
            <a:off x="8801280" y="7649640"/>
            <a:ext cx="341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ffc000"/>
                </a:solidFill>
                <a:latin typeface="Arial"/>
                <a:ea typeface="Arial"/>
              </a:rPr>
              <a:t>3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Numeric 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Expressio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ns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Order of 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Evaluatio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n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14629320" cy="39992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749160" indent="-371160">
              <a:lnSpc>
                <a:spcPct val="100000"/>
              </a:lnSpc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When we string operators together - Python must know which one to do first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This is called “</a:t>
            </a:r>
            <a:r>
              <a:rPr b="0" lang="en-US" sz="3600" spc="-1" strike="noStrike">
                <a:solidFill>
                  <a:srgbClr val="00ffff"/>
                </a:solidFill>
                <a:latin typeface="Arial"/>
                <a:ea typeface="Arial"/>
              </a:rPr>
              <a:t>operator precedence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”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Which operator “takes precedence” over the others?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379"/>
          <p:cNvSpPr/>
          <p:nvPr/>
        </p:nvSpPr>
        <p:spPr>
          <a:xfrm>
            <a:off x="3755880" y="6640920"/>
            <a:ext cx="87429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ff00"/>
                </a:solidFill>
                <a:latin typeface="Courier New"/>
                <a:ea typeface="Courier New"/>
              </a:rPr>
              <a:t>x</a:t>
            </a:r>
            <a:r>
              <a:rPr b="0" lang="en-US" sz="4400" spc="-1" strike="noStrike">
                <a:solidFill>
                  <a:schemeClr val="lt1"/>
                </a:solidFill>
                <a:latin typeface="Courier New"/>
                <a:ea typeface="Courier New"/>
              </a:rPr>
              <a:t> = 1</a:t>
            </a:r>
            <a:r>
              <a:rPr b="0" lang="en-US" sz="4400" spc="-1" strike="noStrike">
                <a:solidFill>
                  <a:srgbClr val="00ffff"/>
                </a:solidFill>
                <a:latin typeface="Courier New"/>
                <a:ea typeface="Courier New"/>
              </a:rPr>
              <a:t> +</a:t>
            </a:r>
            <a:r>
              <a:rPr b="0" lang="en-US" sz="4400" spc="-1" strike="noStrike">
                <a:solidFill>
                  <a:schemeClr val="lt1"/>
                </a:solidFill>
                <a:latin typeface="Courier New"/>
                <a:ea typeface="Courier New"/>
              </a:rPr>
              <a:t> 2 </a:t>
            </a:r>
            <a:r>
              <a:rPr b="0" lang="en-US" sz="4400" spc="-1" strike="noStrike">
                <a:solidFill>
                  <a:srgbClr val="00ffff"/>
                </a:solidFill>
                <a:latin typeface="Courier New"/>
                <a:ea typeface="Courier New"/>
              </a:rPr>
              <a:t>* </a:t>
            </a:r>
            <a:r>
              <a:rPr b="0" lang="en-US" sz="4400" spc="-1" strike="noStrike">
                <a:solidFill>
                  <a:schemeClr val="lt1"/>
                </a:solidFill>
                <a:latin typeface="Courier New"/>
                <a:ea typeface="Courier New"/>
              </a:rPr>
              <a:t>3 </a:t>
            </a:r>
            <a:r>
              <a:rPr b="0" lang="en-US" sz="4400" spc="-1" strike="noStrike">
                <a:solidFill>
                  <a:srgbClr val="00ffff"/>
                </a:solidFill>
                <a:latin typeface="Courier New"/>
                <a:ea typeface="Courier New"/>
              </a:rPr>
              <a:t>- </a:t>
            </a:r>
            <a:r>
              <a:rPr b="0" lang="en-US" sz="4400" spc="-1" strike="noStrike">
                <a:solidFill>
                  <a:schemeClr val="lt1"/>
                </a:solidFill>
                <a:latin typeface="Courier New"/>
                <a:ea typeface="Courier New"/>
              </a:rPr>
              <a:t>4</a:t>
            </a:r>
            <a:r>
              <a:rPr b="0" lang="en-US" sz="4400" spc="-1" strike="noStrike">
                <a:solidFill>
                  <a:srgbClr val="00ffff"/>
                </a:solidFill>
                <a:latin typeface="Courier New"/>
                <a:ea typeface="Courier New"/>
              </a:rPr>
              <a:t> / </a:t>
            </a:r>
            <a:r>
              <a:rPr b="0" lang="en-US" sz="4400" spc="-1" strike="noStrike">
                <a:solidFill>
                  <a:schemeClr val="lt1"/>
                </a:solidFill>
                <a:latin typeface="Courier New"/>
                <a:ea typeface="Courier New"/>
              </a:rPr>
              <a:t>5 </a:t>
            </a:r>
            <a:r>
              <a:rPr b="0" lang="en-US" sz="4400" spc="-1" strike="noStrike">
                <a:solidFill>
                  <a:srgbClr val="00ffff"/>
                </a:solidFill>
                <a:latin typeface="Courier New"/>
                <a:ea typeface="Courier New"/>
              </a:rPr>
              <a:t>** </a:t>
            </a:r>
            <a:r>
              <a:rPr b="0" lang="en-US" sz="4400" spc="-1" strike="noStrike">
                <a:solidFill>
                  <a:schemeClr val="lt1"/>
                </a:solidFill>
                <a:latin typeface="Courier New"/>
                <a:ea typeface="Courier New"/>
              </a:rPr>
              <a:t>6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Operator Precedence Rules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14629320" cy="603288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Highest precedence rule to lowest precedence rule: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1041480" indent="-34560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Parentheses are always respected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1041480" indent="-34560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Exponentiation (raise to a power)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1041480" indent="-34560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Multiplication, Division, Floor Division, and Remainder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1041480" indent="-34560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Addition and Subtraction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1041480" indent="-34560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Left to right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6" name="Shape 386"/>
          <p:cNvGrpSpPr/>
          <p:nvPr/>
        </p:nvGrpSpPr>
        <p:grpSpPr>
          <a:xfrm>
            <a:off x="12079440" y="3276720"/>
            <a:ext cx="3339000" cy="3019320"/>
            <a:chOff x="12079440" y="3276720"/>
            <a:chExt cx="3339000" cy="3019320"/>
          </a:xfrm>
        </p:grpSpPr>
        <p:sp>
          <p:nvSpPr>
            <p:cNvPr id="147" name="Shape 387"/>
            <p:cNvSpPr/>
            <p:nvPr/>
          </p:nvSpPr>
          <p:spPr>
            <a:xfrm>
              <a:off x="12079440" y="3276720"/>
              <a:ext cx="2993040" cy="301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600" spc="-1" strike="noStrike">
                  <a:solidFill>
                    <a:srgbClr val="ff00ff"/>
                  </a:solidFill>
                  <a:latin typeface="Arial"/>
                  <a:ea typeface="Arial"/>
                </a:rPr>
                <a:t>Parenthesis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600" spc="-1" strike="noStrike">
                  <a:solidFill>
                    <a:srgbClr val="00ffff"/>
                  </a:solidFill>
                  <a:latin typeface="Arial"/>
                  <a:ea typeface="Arial"/>
                </a:rPr>
                <a:t>Power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600" spc="-1" strike="noStrike">
                  <a:solidFill>
                    <a:srgbClr val="00ff00"/>
                  </a:solidFill>
                  <a:latin typeface="Arial"/>
                  <a:ea typeface="Arial"/>
                </a:rPr>
                <a:t>Multiplication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600" spc="-1" strike="noStrike">
                  <a:solidFill>
                    <a:srgbClr val="ff9900"/>
                  </a:solidFill>
                  <a:latin typeface="Arial"/>
                  <a:ea typeface="Arial"/>
                </a:rPr>
                <a:t>Addition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600" spc="-1" strike="noStrike">
                  <a:solidFill>
                    <a:srgbClr val="ffff00"/>
                  </a:solidFill>
                  <a:latin typeface="Arial"/>
                  <a:ea typeface="Arial"/>
                </a:rPr>
                <a:t>Left to Right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</p:txBody>
        </p:sp>
        <p:cxnSp>
          <p:nvCxnSpPr>
            <p:cNvPr id="148" name="Shape 388"/>
            <p:cNvCxnSpPr/>
            <p:nvPr/>
          </p:nvCxnSpPr>
          <p:spPr>
            <a:xfrm flipV="1">
              <a:off x="15417720" y="3760560"/>
              <a:ext cx="1080" cy="2052000"/>
            </a:xfrm>
            <a:prstGeom prst="straightConnector1">
              <a:avLst/>
            </a:prstGeom>
            <a:ln cap="rnd" w="88900">
              <a:solidFill>
                <a:srgbClr val="ffffff"/>
              </a:solidFill>
              <a:miter/>
              <a:headEnd len="med" type="stealth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396"/>
          <p:cNvSpPr/>
          <p:nvPr/>
        </p:nvSpPr>
        <p:spPr>
          <a:xfrm>
            <a:off x="10307520" y="990720"/>
            <a:ext cx="462636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1 + </a:t>
            </a:r>
            <a:r>
              <a:rPr b="0" lang="en-US" sz="3200" spc="-1" strike="noStrike">
                <a:solidFill>
                  <a:srgbClr val="00ffff"/>
                </a:solidFill>
                <a:latin typeface="Courier New"/>
                <a:ea typeface="Courier New"/>
              </a:rPr>
              <a:t>2 ** 3</a:t>
            </a: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 / 4 * 5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397"/>
          <p:cNvSpPr/>
          <p:nvPr/>
        </p:nvSpPr>
        <p:spPr>
          <a:xfrm>
            <a:off x="10891800" y="2540160"/>
            <a:ext cx="404244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1 + </a:t>
            </a:r>
            <a:r>
              <a:rPr b="0" lang="en-US" sz="3200" spc="-1" strike="noStrike">
                <a:solidFill>
                  <a:srgbClr val="00ff00"/>
                </a:solidFill>
                <a:latin typeface="Courier New"/>
                <a:ea typeface="Courier New"/>
              </a:rPr>
              <a:t>8 / 4</a:t>
            </a: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 * 5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1" name="Shape 398"/>
          <p:cNvCxnSpPr/>
          <p:nvPr/>
        </p:nvCxnSpPr>
        <p:spPr>
          <a:xfrm flipH="1" flipV="1">
            <a:off x="11917800" y="1685880"/>
            <a:ext cx="278280" cy="839160"/>
          </a:xfrm>
          <a:prstGeom prst="straightConnector1">
            <a:avLst/>
          </a:prstGeom>
          <a:ln cap="rnd" w="63500">
            <a:solidFill>
              <a:srgbClr val="00ffff"/>
            </a:solidFill>
            <a:miter/>
            <a:headEnd len="med" type="stealth" w="med"/>
          </a:ln>
        </p:spPr>
      </p:cxnSp>
      <p:sp>
        <p:nvSpPr>
          <p:cNvPr id="152" name="Shape 399"/>
          <p:cNvSpPr/>
          <p:nvPr/>
        </p:nvSpPr>
        <p:spPr>
          <a:xfrm>
            <a:off x="11298240" y="4000680"/>
            <a:ext cx="321696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1 + </a:t>
            </a:r>
            <a:r>
              <a:rPr b="0" lang="en-US" sz="3200" spc="-1" strike="noStrike">
                <a:solidFill>
                  <a:srgbClr val="00ff00"/>
                </a:solidFill>
                <a:latin typeface="Courier New"/>
                <a:ea typeface="Courier New"/>
              </a:rPr>
              <a:t>2 * 5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3" name="Shape 400"/>
          <p:cNvCxnSpPr/>
          <p:nvPr/>
        </p:nvCxnSpPr>
        <p:spPr>
          <a:xfrm flipV="1">
            <a:off x="12322080" y="3348000"/>
            <a:ext cx="75600" cy="653400"/>
          </a:xfrm>
          <a:prstGeom prst="straightConnector1">
            <a:avLst/>
          </a:prstGeom>
          <a:ln cap="rnd" w="63500">
            <a:solidFill>
              <a:srgbClr val="00ff00"/>
            </a:solidFill>
            <a:miter/>
            <a:headEnd len="med" type="stealth" w="med"/>
          </a:ln>
        </p:spPr>
      </p:cxnSp>
      <p:sp>
        <p:nvSpPr>
          <p:cNvPr id="154" name="Shape 401"/>
          <p:cNvSpPr/>
          <p:nvPr/>
        </p:nvSpPr>
        <p:spPr>
          <a:xfrm>
            <a:off x="11590200" y="5638680"/>
            <a:ext cx="22579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9900"/>
                </a:solidFill>
                <a:latin typeface="Courier New"/>
                <a:ea typeface="Courier New"/>
              </a:rPr>
              <a:t>1 + 10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5" name="Shape 402"/>
          <p:cNvCxnSpPr>
            <a:endCxn id="152" idx="2"/>
          </p:cNvCxnSpPr>
          <p:nvPr/>
        </p:nvCxnSpPr>
        <p:spPr>
          <a:xfrm flipV="1">
            <a:off x="12785400" y="4799520"/>
            <a:ext cx="121680" cy="865800"/>
          </a:xfrm>
          <a:prstGeom prst="straightConnector1">
            <a:avLst/>
          </a:prstGeom>
          <a:ln cap="rnd" w="63500">
            <a:solidFill>
              <a:srgbClr val="00ff00"/>
            </a:solidFill>
            <a:miter/>
            <a:headEnd len="med" type="stealth" w="med"/>
          </a:ln>
        </p:spPr>
      </p:cxnSp>
      <p:sp>
        <p:nvSpPr>
          <p:cNvPr id="156" name="Shape 403"/>
          <p:cNvSpPr/>
          <p:nvPr/>
        </p:nvSpPr>
        <p:spPr>
          <a:xfrm>
            <a:off x="12085560" y="6934320"/>
            <a:ext cx="72288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9900"/>
                </a:solidFill>
                <a:latin typeface="Courier New"/>
                <a:ea typeface="Courier New"/>
              </a:rPr>
              <a:t>11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7" name="Shape 404"/>
          <p:cNvCxnSpPr/>
          <p:nvPr/>
        </p:nvCxnSpPr>
        <p:spPr>
          <a:xfrm flipH="1" flipV="1">
            <a:off x="12225240" y="6308640"/>
            <a:ext cx="97920" cy="708840"/>
          </a:xfrm>
          <a:prstGeom prst="straightConnector1">
            <a:avLst/>
          </a:prstGeom>
          <a:ln cap="rnd" w="63500">
            <a:solidFill>
              <a:srgbClr val="ff9900"/>
            </a:solidFill>
            <a:miter/>
            <a:headEnd len="med" type="stealth" w="med"/>
          </a:ln>
        </p:spPr>
      </p:cxnSp>
      <p:sp>
        <p:nvSpPr>
          <p:cNvPr id="158" name="Shape 405"/>
          <p:cNvSpPr/>
          <p:nvPr/>
        </p:nvSpPr>
        <p:spPr>
          <a:xfrm>
            <a:off x="1455840" y="1309680"/>
            <a:ext cx="7350840" cy="29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600" spc="-1" strike="noStrike">
                <a:solidFill>
                  <a:srgbClr val="ffff00"/>
                </a:solidFill>
                <a:latin typeface="Courier New"/>
                <a:ea typeface="Courier New"/>
              </a:rPr>
              <a:t>x = 1 + 2 ** 3 / 4 * 5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6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print(x)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Courier New"/>
                <a:ea typeface="Courier New"/>
              </a:rPr>
              <a:t>11.0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</a:t>
            </a:r>
            <a:r>
              <a:rPr b="1" lang="en-US" sz="36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9" name="Shape 386"/>
          <p:cNvGrpSpPr/>
          <p:nvPr/>
        </p:nvGrpSpPr>
        <p:grpSpPr>
          <a:xfrm>
            <a:off x="3242880" y="4450680"/>
            <a:ext cx="3339360" cy="3019320"/>
            <a:chOff x="3242880" y="4450680"/>
            <a:chExt cx="3339360" cy="3019320"/>
          </a:xfrm>
        </p:grpSpPr>
        <p:sp>
          <p:nvSpPr>
            <p:cNvPr id="160" name="Shape 387"/>
            <p:cNvSpPr/>
            <p:nvPr/>
          </p:nvSpPr>
          <p:spPr>
            <a:xfrm>
              <a:off x="3242880" y="4450680"/>
              <a:ext cx="2993040" cy="301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600" spc="-1" strike="noStrike">
                  <a:solidFill>
                    <a:srgbClr val="ff00ff"/>
                  </a:solidFill>
                  <a:latin typeface="Arial"/>
                  <a:ea typeface="Arial"/>
                </a:rPr>
                <a:t>Parenthesis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600" spc="-1" strike="noStrike">
                  <a:solidFill>
                    <a:srgbClr val="00ffff"/>
                  </a:solidFill>
                  <a:latin typeface="Arial"/>
                  <a:ea typeface="Arial"/>
                </a:rPr>
                <a:t>Power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600" spc="-1" strike="noStrike">
                  <a:solidFill>
                    <a:srgbClr val="00ff00"/>
                  </a:solidFill>
                  <a:latin typeface="Arial"/>
                  <a:ea typeface="Arial"/>
                </a:rPr>
                <a:t>Multiplication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600" spc="-1" strike="noStrike">
                  <a:solidFill>
                    <a:srgbClr val="ff9900"/>
                  </a:solidFill>
                  <a:latin typeface="Arial"/>
                  <a:ea typeface="Arial"/>
                </a:rPr>
                <a:t>Addition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600" spc="-1" strike="noStrike">
                  <a:solidFill>
                    <a:srgbClr val="ffff00"/>
                  </a:solidFill>
                  <a:latin typeface="Arial"/>
                  <a:ea typeface="Arial"/>
                </a:rPr>
                <a:t>Left to Right</a:t>
              </a:r>
              <a:endParaRPr b="0" lang="en-US" sz="3600" spc="-1" strike="noStrike">
                <a:solidFill>
                  <a:srgbClr val="ffffff"/>
                </a:solidFill>
                <a:latin typeface="Arial"/>
              </a:endParaRPr>
            </a:p>
          </p:txBody>
        </p:sp>
        <p:cxnSp>
          <p:nvCxnSpPr>
            <p:cNvPr id="161" name="Shape 388"/>
            <p:cNvCxnSpPr/>
            <p:nvPr/>
          </p:nvCxnSpPr>
          <p:spPr>
            <a:xfrm flipV="1">
              <a:off x="6581520" y="4934520"/>
              <a:ext cx="1080" cy="2052360"/>
            </a:xfrm>
            <a:prstGeom prst="straightConnector1">
              <a:avLst/>
            </a:prstGeom>
            <a:ln cap="rnd" w="88900">
              <a:solidFill>
                <a:srgbClr val="ffffff"/>
              </a:solidFill>
              <a:miter/>
              <a:headEnd len="med" type="stealth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06207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Operator 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Preceden</a:t>
            </a: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ce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14629320" cy="506628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749160" indent="-371160">
              <a:lnSpc>
                <a:spcPct val="100000"/>
              </a:lnSpc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Remember the rules top to bottom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When writing code - use parentheses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When writing code - keep mathematical expressions simple enough that they are easy to understand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Break long series of mathematical operations up to make them more clear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4" name="Shape 412"/>
          <p:cNvGrpSpPr/>
          <p:nvPr/>
        </p:nvGrpSpPr>
        <p:grpSpPr>
          <a:xfrm>
            <a:off x="11767320" y="1542960"/>
            <a:ext cx="3250080" cy="2323080"/>
            <a:chOff x="11767320" y="1542960"/>
            <a:chExt cx="3250080" cy="2323080"/>
          </a:xfrm>
        </p:grpSpPr>
        <p:sp>
          <p:nvSpPr>
            <p:cNvPr id="165" name="Shape 413"/>
            <p:cNvSpPr/>
            <p:nvPr/>
          </p:nvSpPr>
          <p:spPr>
            <a:xfrm>
              <a:off x="11767320" y="1542960"/>
              <a:ext cx="2891160" cy="232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100" spc="-1" strike="noStrike">
                  <a:solidFill>
                    <a:srgbClr val="ff00ff"/>
                  </a:solidFill>
                  <a:latin typeface="Arial"/>
                  <a:ea typeface="Arial"/>
                </a:rPr>
                <a:t>Parenthesis</a:t>
              </a:r>
              <a:endParaRPr b="0" lang="en-US" sz="31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100" spc="-1" strike="noStrike">
                  <a:solidFill>
                    <a:srgbClr val="00ffff"/>
                  </a:solidFill>
                  <a:latin typeface="Arial"/>
                  <a:ea typeface="Arial"/>
                </a:rPr>
                <a:t>Power</a:t>
              </a:r>
              <a:endParaRPr b="0" lang="en-US" sz="31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100" spc="-1" strike="noStrike">
                  <a:solidFill>
                    <a:srgbClr val="00ff00"/>
                  </a:solidFill>
                  <a:latin typeface="Arial"/>
                  <a:ea typeface="Arial"/>
                </a:rPr>
                <a:t>Multiplication</a:t>
              </a:r>
              <a:endParaRPr b="0" lang="en-US" sz="31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100" spc="-1" strike="noStrike">
                  <a:solidFill>
                    <a:srgbClr val="ff9900"/>
                  </a:solidFill>
                  <a:latin typeface="Arial"/>
                  <a:ea typeface="Arial"/>
                </a:rPr>
                <a:t>Addition</a:t>
              </a:r>
              <a:endParaRPr b="0" lang="en-US" sz="3100" spc="-1" strike="noStrike">
                <a:solidFill>
                  <a:srgbClr val="ffffff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3100" spc="-1" strike="noStrike">
                  <a:solidFill>
                    <a:srgbClr val="ffff00"/>
                  </a:solidFill>
                  <a:latin typeface="Arial"/>
                  <a:ea typeface="Arial"/>
                </a:rPr>
                <a:t>Left to Right</a:t>
              </a:r>
              <a:endParaRPr b="0" lang="en-US" sz="3100" spc="-1" strike="noStrike">
                <a:solidFill>
                  <a:srgbClr val="ffffff"/>
                </a:solidFill>
                <a:latin typeface="Arial"/>
              </a:endParaRPr>
            </a:p>
          </p:txBody>
        </p:sp>
        <p:cxnSp>
          <p:nvCxnSpPr>
            <p:cNvPr id="166" name="Shape 414"/>
            <p:cNvCxnSpPr/>
            <p:nvPr/>
          </p:nvCxnSpPr>
          <p:spPr>
            <a:xfrm flipH="1" flipV="1">
              <a:off x="14992560" y="1677960"/>
              <a:ext cx="25200" cy="2052000"/>
            </a:xfrm>
            <a:prstGeom prst="straightConnector1">
              <a:avLst/>
            </a:prstGeom>
            <a:ln cap="rnd" w="88900">
              <a:solidFill>
                <a:srgbClr val="ffffff"/>
              </a:solidFill>
              <a:miter/>
              <a:headEnd len="med" type="stealth" w="med"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What Does “Type” Mean?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8539560" cy="603288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749160" indent="-371160">
              <a:lnSpc>
                <a:spcPct val="100000"/>
              </a:lnSpc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In Python variables, literals, and constants have a “</a:t>
            </a:r>
            <a:r>
              <a:rPr b="0" lang="en-US" sz="3600" spc="-1" strike="noStrike">
                <a:solidFill>
                  <a:srgbClr val="00ff00"/>
                </a:solidFill>
                <a:latin typeface="Arial"/>
                <a:ea typeface="Arial"/>
              </a:rPr>
              <a:t>type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”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Python knows the </a:t>
            </a:r>
            <a:r>
              <a:rPr b="0" lang="en-US" sz="3600" spc="-1" strike="noStrike">
                <a:solidFill>
                  <a:srgbClr val="00ff00"/>
                </a:solidFill>
                <a:latin typeface="Arial"/>
                <a:ea typeface="Arial"/>
              </a:rPr>
              <a:t>difference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between an integer number and a string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For example “</a:t>
            </a:r>
            <a:r>
              <a:rPr b="0" lang="en-US" sz="3600" spc="-1" strike="noStrike">
                <a:solidFill>
                  <a:srgbClr val="00ffff"/>
                </a:solidFill>
                <a:latin typeface="Arial"/>
                <a:ea typeface="Arial"/>
              </a:rPr>
              <a:t>+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” means “addition” if something is a number and “concatenate” if something is a string 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437"/>
          <p:cNvSpPr/>
          <p:nvPr/>
        </p:nvSpPr>
        <p:spPr>
          <a:xfrm>
            <a:off x="9696600" y="3224880"/>
            <a:ext cx="6075720" cy="32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&gt;&gt;&gt; ddd = 1 + 4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&gt;&gt;&gt; print(ddd)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5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&gt;&gt;&gt; eee = 'hello ' + 'there'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&gt;&gt;&gt; print(eee)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hello there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438"/>
          <p:cNvSpPr/>
          <p:nvPr/>
        </p:nvSpPr>
        <p:spPr>
          <a:xfrm>
            <a:off x="9322560" y="7695000"/>
            <a:ext cx="62136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600" spc="-1" strike="noStrike">
                <a:solidFill>
                  <a:srgbClr val="00fa00"/>
                </a:solidFill>
                <a:latin typeface="Arial"/>
                <a:ea typeface="Arial"/>
              </a:rPr>
              <a:t>concatenate = put together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382184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Type Matters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7167960" cy="603288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749160" indent="-371160">
              <a:lnSpc>
                <a:spcPct val="100000"/>
              </a:lnSpc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Python knows what “</a:t>
            </a:r>
            <a:r>
              <a:rPr b="0" lang="en-US" sz="3600" spc="-1" strike="noStrike">
                <a:solidFill>
                  <a:srgbClr val="00ff00"/>
                </a:solidFill>
                <a:latin typeface="Arial"/>
                <a:ea typeface="Arial"/>
              </a:rPr>
              <a:t>type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” everything is 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Some operations are prohibited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00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rgbClr val="00ffff"/>
                </a:solidFill>
                <a:latin typeface="Arial"/>
                <a:ea typeface="Arial"/>
              </a:rPr>
              <a:t>You cannot “add 1” to a string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We can ask Python what type something is by using the </a:t>
            </a:r>
            <a:r>
              <a:rPr b="0" lang="en-US" sz="3600" spc="-1" strike="noStrike">
                <a:solidFill>
                  <a:srgbClr val="00ff00"/>
                </a:solidFill>
                <a:latin typeface="Arial"/>
                <a:ea typeface="Arial"/>
              </a:rPr>
              <a:t>type()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function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445"/>
          <p:cNvSpPr/>
          <p:nvPr/>
        </p:nvSpPr>
        <p:spPr>
          <a:xfrm>
            <a:off x="8586720" y="2120760"/>
            <a:ext cx="7314120" cy="60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&gt;&gt;&gt; eee = 'hello ' + 'there'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&gt;&gt;&gt; </a:t>
            </a:r>
            <a:r>
              <a:rPr b="0" lang="en-US" sz="2800" spc="-1" strike="noStrike">
                <a:solidFill>
                  <a:srgbClr val="00ffff"/>
                </a:solidFill>
                <a:latin typeface="Courier New"/>
                <a:ea typeface="Courier New"/>
              </a:rPr>
              <a:t>eee = eee + 1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e06666"/>
                </a:solidFill>
                <a:latin typeface="Courier New"/>
                <a:ea typeface="Courier New"/>
              </a:rPr>
              <a:t>Traceback (most recent call last):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e06666"/>
                </a:solidFill>
                <a:latin typeface="Courier New"/>
                <a:ea typeface="Courier New"/>
              </a:rPr>
              <a:t>File "&lt;stdin&gt;", line 1, in &lt;module&gt;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e06666"/>
                </a:solidFill>
                <a:latin typeface="Courier New"/>
                <a:ea typeface="Courier New"/>
              </a:rPr>
              <a:t>TypeError: can only concatenate str (not "int") to str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&gt;&gt;&gt; </a:t>
            </a:r>
            <a:r>
              <a:rPr b="0" lang="en-US" sz="2800" spc="-1" strike="noStrike">
                <a:solidFill>
                  <a:srgbClr val="00ff00"/>
                </a:solidFill>
                <a:latin typeface="Courier New"/>
                <a:ea typeface="Courier New"/>
              </a:rPr>
              <a:t>type</a:t>
            </a: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(eee)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&lt;class'str'&gt;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&gt;&gt;&gt; </a:t>
            </a:r>
            <a:r>
              <a:rPr b="0" lang="en-US" sz="2800" spc="-1" strike="noStrike">
                <a:solidFill>
                  <a:srgbClr val="00ff00"/>
                </a:solidFill>
                <a:latin typeface="Courier New"/>
                <a:ea typeface="Courier New"/>
              </a:rPr>
              <a:t>type</a:t>
            </a: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('hello')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&lt;class'str'&gt;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&gt;&gt;&gt; </a:t>
            </a:r>
            <a:r>
              <a:rPr b="0" lang="en-US" sz="2800" spc="-1" strike="noStrike">
                <a:solidFill>
                  <a:srgbClr val="00ff00"/>
                </a:solidFill>
                <a:latin typeface="Courier New"/>
                <a:ea typeface="Courier New"/>
              </a:rPr>
              <a:t>type</a:t>
            </a: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(1)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&lt;class'int'&gt;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&gt;&gt;&gt; 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Several Types of Numbers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8349120" cy="603288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749160" indent="-371160">
              <a:lnSpc>
                <a:spcPct val="100000"/>
              </a:lnSpc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Numbers have two main types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670320" indent="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-  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Integers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are whole numbers: </a:t>
            </a:r>
            <a:br>
              <a:rPr sz="3600"/>
            </a:b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  -14, -2, 0, 1, 100, 401233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670320" indent="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- 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 Floating Point Numbers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have  decimal parts:  -2.5 , 0.0, 98.6, 14.0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There are other number types - they are variations on float and integer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452"/>
          <p:cNvSpPr/>
          <p:nvPr/>
        </p:nvSpPr>
        <p:spPr>
          <a:xfrm>
            <a:off x="10598040" y="2235960"/>
            <a:ext cx="5237640" cy="58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400" spc="-1" strike="noStrike">
                <a:solidFill>
                  <a:srgbClr val="00ff00"/>
                </a:solidFill>
                <a:latin typeface="Courier New"/>
                <a:ea typeface="Courier New"/>
              </a:rPr>
              <a:t>xx</a:t>
            </a: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 = 1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400" spc="-1" strike="noStrike">
                <a:solidFill>
                  <a:srgbClr val="ffff00"/>
                </a:solidFill>
                <a:latin typeface="Courier New"/>
                <a:ea typeface="Courier New"/>
              </a:rPr>
              <a:t>type</a:t>
            </a: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 (</a:t>
            </a:r>
            <a:r>
              <a:rPr b="0" lang="en-US" sz="3400" spc="-1" strike="noStrike">
                <a:solidFill>
                  <a:srgbClr val="00ff00"/>
                </a:solidFill>
                <a:latin typeface="Courier New"/>
                <a:ea typeface="Courier New"/>
              </a:rPr>
              <a:t>xx</a:t>
            </a: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)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&lt;class 'int'&gt;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400" spc="-1" strike="noStrike">
                <a:solidFill>
                  <a:srgbClr val="00ff00"/>
                </a:solidFill>
                <a:latin typeface="Courier New"/>
                <a:ea typeface="Courier New"/>
              </a:rPr>
              <a:t>temp</a:t>
            </a: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 = 98.6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400" spc="-1" strike="noStrike">
                <a:solidFill>
                  <a:srgbClr val="ffff00"/>
                </a:solidFill>
                <a:latin typeface="Courier New"/>
                <a:ea typeface="Courier New"/>
              </a:rPr>
              <a:t>type</a:t>
            </a: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(</a:t>
            </a:r>
            <a:r>
              <a:rPr b="0" lang="en-US" sz="3400" spc="-1" strike="noStrike">
                <a:solidFill>
                  <a:srgbClr val="00ff00"/>
                </a:solidFill>
                <a:latin typeface="Courier New"/>
                <a:ea typeface="Courier New"/>
              </a:rPr>
              <a:t>temp</a:t>
            </a: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)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&lt;class'float'&gt;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400" spc="-1" strike="noStrike">
                <a:solidFill>
                  <a:srgbClr val="ffff00"/>
                </a:solidFill>
                <a:latin typeface="Courier New"/>
                <a:ea typeface="Courier New"/>
              </a:rPr>
              <a:t>type</a:t>
            </a: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(1)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&lt;class 'int'&gt;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400" spc="-1" strike="noStrike">
                <a:solidFill>
                  <a:srgbClr val="ffff00"/>
                </a:solidFill>
                <a:latin typeface="Courier New"/>
                <a:ea typeface="Courier New"/>
              </a:rPr>
              <a:t>type</a:t>
            </a: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(1.0)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&lt;class'float'&gt;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Type Conversions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6920280" cy="603288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749160" indent="-533520">
              <a:lnSpc>
                <a:spcPct val="100000"/>
              </a:lnSpc>
              <a:buClr>
                <a:srgbClr val="ffffff"/>
              </a:buClr>
              <a:buSzPct val="171000"/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When you put an integer and floating point in an expression, the integer is 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implicitly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converted to a float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53352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SzPct val="171000"/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You can control this with the built-in functions int() and float()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459"/>
          <p:cNvSpPr/>
          <p:nvPr/>
        </p:nvSpPr>
        <p:spPr>
          <a:xfrm>
            <a:off x="9048600" y="1890720"/>
            <a:ext cx="7009200" cy="59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2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200" spc="-1" strike="noStrike">
                <a:solidFill>
                  <a:srgbClr val="00ff00"/>
                </a:solidFill>
                <a:latin typeface="Courier New"/>
                <a:ea typeface="Courier New"/>
              </a:rPr>
              <a:t>float</a:t>
            </a: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(99) </a:t>
            </a:r>
            <a:r>
              <a:rPr b="0" lang="en-US" sz="3200" spc="-1" strike="noStrike">
                <a:solidFill>
                  <a:srgbClr val="00ffff"/>
                </a:solidFill>
                <a:latin typeface="Courier New"/>
                <a:ea typeface="Courier New"/>
              </a:rPr>
              <a:t>+</a:t>
            </a: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 100</a:t>
            </a:r>
            <a:r>
              <a:rPr b="0" lang="en-US" sz="32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199.0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i = 42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200" spc="-1" strike="noStrike">
                <a:solidFill>
                  <a:srgbClr val="00ff00"/>
                </a:solidFill>
                <a:latin typeface="Courier New"/>
                <a:ea typeface="Courier New"/>
              </a:rPr>
              <a:t>type</a:t>
            </a: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(i)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&lt;class'int'&gt;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f = </a:t>
            </a:r>
            <a:r>
              <a:rPr b="0" lang="en-US" sz="3200" spc="-1" strike="noStrike">
                <a:solidFill>
                  <a:srgbClr val="00ff00"/>
                </a:solidFill>
                <a:latin typeface="Courier New"/>
                <a:ea typeface="Courier New"/>
              </a:rPr>
              <a:t>float</a:t>
            </a: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(i)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2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f</a:t>
            </a:r>
            <a:r>
              <a:rPr b="0" lang="en-US" sz="32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42.0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200" spc="-1" strike="noStrike">
                <a:solidFill>
                  <a:srgbClr val="00ff00"/>
                </a:solidFill>
                <a:latin typeface="Courier New"/>
                <a:ea typeface="Courier New"/>
              </a:rPr>
              <a:t>type</a:t>
            </a: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(f)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&lt;class'float'&gt;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379088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Division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812880" y="2457360"/>
            <a:ext cx="8235000" cy="390420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37836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Dividing integers or floating-point numbers using the </a:t>
            </a:r>
            <a:r>
              <a:rPr b="0" lang="en-US" sz="3600" spc="-1" strike="noStrike">
                <a:solidFill>
                  <a:srgbClr val="00ffff"/>
                </a:solidFill>
                <a:latin typeface="Arial"/>
                <a:ea typeface="Arial"/>
              </a:rPr>
              <a:t>/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operator </a:t>
            </a:r>
            <a:r>
              <a:rPr b="1" i="1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always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produces a floating-point result.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422"/>
          <p:cNvSpPr/>
          <p:nvPr/>
        </p:nvSpPr>
        <p:spPr>
          <a:xfrm>
            <a:off x="9527760" y="2647800"/>
            <a:ext cx="6415920" cy="46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10 </a:t>
            </a: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/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2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ff"/>
                </a:solidFill>
                <a:latin typeface="Courier New"/>
                <a:ea typeface="Courier New"/>
              </a:rPr>
              <a:t>5.0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9 </a:t>
            </a: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/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2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ff"/>
                </a:solidFill>
                <a:latin typeface="Courier New"/>
                <a:ea typeface="Courier New"/>
              </a:rPr>
              <a:t>4.5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99 </a:t>
            </a: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/ 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100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ff"/>
                </a:solidFill>
                <a:latin typeface="Courier New"/>
                <a:ea typeface="Courier New"/>
              </a:rPr>
              <a:t>0.99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10.0 </a:t>
            </a: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/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2.0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3000" spc="-1" strike="noStrike">
                <a:solidFill>
                  <a:srgbClr val="ffffff"/>
                </a:solidFill>
                <a:latin typeface="Courier New"/>
                <a:ea typeface="Courier New"/>
              </a:rPr>
              <a:t>5.0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99.0 </a:t>
            </a: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/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100.0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3000" spc="-1" strike="noStrike">
                <a:solidFill>
                  <a:srgbClr val="ffffff"/>
                </a:solidFill>
                <a:latin typeface="Courier New"/>
                <a:ea typeface="Courier New"/>
              </a:rPr>
              <a:t>0.99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379088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Floor Division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749160" y="2514600"/>
            <a:ext cx="8235000" cy="514980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37836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Division using the </a:t>
            </a:r>
            <a:r>
              <a:rPr b="0" lang="en-US" sz="3600" spc="-1" strike="noStrike">
                <a:solidFill>
                  <a:srgbClr val="00ffff"/>
                </a:solidFill>
                <a:latin typeface="Arial"/>
                <a:ea typeface="Arial"/>
              </a:rPr>
              <a:t>//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operator produces the floor of the division —meaning the result is </a:t>
            </a:r>
            <a:r>
              <a:rPr b="0" i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rounded down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. 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37836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37836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The result is an 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int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 if both operands are integers, and a 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float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 if either operand is a float (even though it has no fractional part).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1"/>
          <p:cNvSpPr/>
          <p:nvPr/>
        </p:nvSpPr>
        <p:spPr>
          <a:xfrm>
            <a:off x="9527760" y="2286000"/>
            <a:ext cx="6415920" cy="617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10 </a:t>
            </a: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//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2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ff"/>
                </a:solidFill>
                <a:latin typeface="Courier New"/>
                <a:ea typeface="Courier New"/>
              </a:rPr>
              <a:t>5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9 </a:t>
            </a: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//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2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ff"/>
                </a:solidFill>
                <a:latin typeface="Courier New"/>
                <a:ea typeface="Courier New"/>
              </a:rPr>
              <a:t>4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99 </a:t>
            </a: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// 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100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ff"/>
                </a:solidFill>
                <a:latin typeface="Courier New"/>
                <a:ea typeface="Courier New"/>
              </a:rPr>
              <a:t>0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print(-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7.0 </a:t>
            </a: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//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2.0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ff"/>
                </a:solidFill>
                <a:latin typeface="Courier New"/>
                <a:ea typeface="Courier New"/>
              </a:rPr>
              <a:t>-4.0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rgbClr val="ffffff"/>
                </a:solidFill>
                <a:latin typeface="Courier New"/>
                <a:ea typeface="Courier New"/>
              </a:rPr>
              <a:t>7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//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2.0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3.0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print(7 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//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2)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3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379088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Modulus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49520" y="2057400"/>
            <a:ext cx="8235000" cy="662940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37836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The modulus </a:t>
            </a:r>
            <a:r>
              <a:rPr b="0" lang="en-US" sz="3600" spc="-1" strike="noStrike">
                <a:solidFill>
                  <a:srgbClr val="00ffff"/>
                </a:solidFill>
                <a:latin typeface="Arial"/>
                <a:ea typeface="Arial"/>
              </a:rPr>
              <a:t>%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 operator produces  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the remainder after division, where the 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quotient is determined using floor 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division //.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37836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37836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The result is an 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int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 if both operands 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are integers, and a 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float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 if either 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operand is a float (even though it has 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no fractional part).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37836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37836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Note, the result is </a:t>
            </a:r>
            <a:r>
              <a:rPr b="0" i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never</a:t>
            </a:r>
            <a:r>
              <a:rPr b="0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 negative.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3"/>
          <p:cNvSpPr/>
          <p:nvPr/>
        </p:nvSpPr>
        <p:spPr>
          <a:xfrm>
            <a:off x="9527760" y="1889640"/>
            <a:ext cx="6415920" cy="633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1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0 </a:t>
            </a: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%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2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ff"/>
                </a:solidFill>
                <a:latin typeface="Courier New"/>
                <a:ea typeface="Courier New"/>
              </a:rPr>
              <a:t>0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9 </a:t>
            </a: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%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2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ff"/>
                </a:solidFill>
                <a:latin typeface="Courier New"/>
                <a:ea typeface="Courier New"/>
              </a:rPr>
              <a:t>1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9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9 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%</a:t>
            </a:r>
            <a:r>
              <a:rPr b="0" lang="en-US" sz="3000" spc="-1" strike="noStrike">
                <a:solidFill>
                  <a:srgbClr val="00ffff"/>
                </a:solidFill>
                <a:latin typeface="Courier New"/>
                <a:ea typeface="Courier New"/>
              </a:rPr>
              <a:t> 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100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ff"/>
                </a:solidFill>
                <a:latin typeface="Courier New"/>
                <a:ea typeface="Courier New"/>
              </a:rPr>
              <a:t>99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print(-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7.0 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%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2.0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1.0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rgbClr val="ffffff"/>
                </a:solidFill>
                <a:latin typeface="Courier New"/>
                <a:ea typeface="Courier New"/>
              </a:rPr>
              <a:t>7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%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2.0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1.0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print(7 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%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2)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2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7282440" cy="2165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String Conversions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812880" y="3105000"/>
            <a:ext cx="7282440" cy="506160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749160" indent="-533520">
              <a:lnSpc>
                <a:spcPct val="100000"/>
              </a:lnSpc>
              <a:buClr>
                <a:srgbClr val="ffffff"/>
              </a:buClr>
              <a:buSzPct val="171000"/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You can also use 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int()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and 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float()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to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convert between strings and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integers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53352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SzPct val="171000"/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You will get an </a:t>
            </a:r>
            <a:r>
              <a:rPr b="0" lang="en-US" sz="3600" spc="-1" strike="noStrike">
                <a:solidFill>
                  <a:srgbClr val="e06666"/>
                </a:solidFill>
                <a:latin typeface="Arial"/>
                <a:ea typeface="Arial"/>
              </a:rPr>
              <a:t>error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if the string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does not contain numeric characters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466"/>
          <p:cNvSpPr/>
          <p:nvPr/>
        </p:nvSpPr>
        <p:spPr>
          <a:xfrm>
            <a:off x="8470800" y="730080"/>
            <a:ext cx="7606080" cy="76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Courier New"/>
                <a:ea typeface="Courier New"/>
              </a:rPr>
              <a:t>&gt;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 </a:t>
            </a:r>
            <a:r>
              <a:rPr b="0" lang="en-US" sz="2600" spc="-1" strike="noStrike">
                <a:solidFill>
                  <a:srgbClr val="00ff00"/>
                </a:solidFill>
                <a:latin typeface="Courier New"/>
                <a:ea typeface="Courier New"/>
              </a:rPr>
              <a:t>sval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 = '123'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2600" spc="-1" strike="noStrike">
                <a:solidFill>
                  <a:srgbClr val="ffff00"/>
                </a:solidFill>
                <a:latin typeface="Courier New"/>
                <a:ea typeface="Courier New"/>
              </a:rPr>
              <a:t>type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(</a:t>
            </a:r>
            <a:r>
              <a:rPr b="0" lang="en-US" sz="2600" spc="-1" strike="noStrike">
                <a:solidFill>
                  <a:srgbClr val="00ff00"/>
                </a:solidFill>
                <a:latin typeface="Courier New"/>
                <a:ea typeface="Courier New"/>
              </a:rPr>
              <a:t>sval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&lt;class 'str'&gt;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26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(</a:t>
            </a:r>
            <a:r>
              <a:rPr b="0" lang="en-US" sz="2600" spc="-1" strike="noStrike">
                <a:solidFill>
                  <a:srgbClr val="00ff00"/>
                </a:solidFill>
                <a:latin typeface="Courier New"/>
                <a:ea typeface="Courier New"/>
              </a:rPr>
              <a:t>sval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r>
              <a:rPr b="0" lang="en-US" sz="2600" spc="-1" strike="noStrike">
                <a:solidFill>
                  <a:srgbClr val="00ffff"/>
                </a:solidFill>
                <a:latin typeface="Courier New"/>
                <a:ea typeface="Courier New"/>
              </a:rPr>
              <a:t>+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 1)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e06666"/>
                </a:solidFill>
                <a:latin typeface="Courier New"/>
                <a:ea typeface="Courier New"/>
              </a:rPr>
              <a:t>Traceback (most recent call last):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e06666"/>
                </a:solidFill>
                <a:latin typeface="Courier New"/>
                <a:ea typeface="Courier New"/>
              </a:rPr>
              <a:t>  </a:t>
            </a:r>
            <a:r>
              <a:rPr b="0" lang="en-US" sz="2600" spc="-1" strike="noStrike">
                <a:solidFill>
                  <a:srgbClr val="e06666"/>
                </a:solidFill>
                <a:latin typeface="Courier New"/>
                <a:ea typeface="Courier New"/>
              </a:rPr>
              <a:t>File "&lt;stdin&gt;", line 1, in &lt;module&gt;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e06666"/>
                </a:solidFill>
                <a:latin typeface="Courier New"/>
                <a:ea typeface="Courier New"/>
              </a:rPr>
              <a:t>TypeError: can only concatenate str (not "int") to str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2600" spc="-1" strike="noStrike">
                <a:solidFill>
                  <a:srgbClr val="00ff00"/>
                </a:solidFill>
                <a:latin typeface="Courier New"/>
                <a:ea typeface="Courier New"/>
              </a:rPr>
              <a:t>ival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 = </a:t>
            </a:r>
            <a:r>
              <a:rPr b="0" lang="en-US" sz="2600" spc="-1" strike="noStrike">
                <a:solidFill>
                  <a:srgbClr val="ffff00"/>
                </a:solidFill>
                <a:latin typeface="Courier New"/>
                <a:ea typeface="Courier New"/>
              </a:rPr>
              <a:t>int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(</a:t>
            </a:r>
            <a:r>
              <a:rPr b="0" lang="en-US" sz="2600" spc="-1" strike="noStrike">
                <a:solidFill>
                  <a:srgbClr val="00ff00"/>
                </a:solidFill>
                <a:latin typeface="Courier New"/>
                <a:ea typeface="Courier New"/>
              </a:rPr>
              <a:t>sval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2600" spc="-1" strike="noStrike">
                <a:solidFill>
                  <a:srgbClr val="ffff00"/>
                </a:solidFill>
                <a:latin typeface="Courier New"/>
                <a:ea typeface="Courier New"/>
              </a:rPr>
              <a:t>type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(</a:t>
            </a:r>
            <a:r>
              <a:rPr b="0" lang="en-US" sz="2600" spc="-1" strike="noStrike">
                <a:solidFill>
                  <a:srgbClr val="00ff00"/>
                </a:solidFill>
                <a:latin typeface="Courier New"/>
                <a:ea typeface="Courier New"/>
              </a:rPr>
              <a:t>ival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&lt;class 'int'&gt;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26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(</a:t>
            </a:r>
            <a:r>
              <a:rPr b="0" lang="en-US" sz="2600" spc="-1" strike="noStrike">
                <a:solidFill>
                  <a:srgbClr val="00ff00"/>
                </a:solidFill>
                <a:latin typeface="Courier New"/>
                <a:ea typeface="Courier New"/>
              </a:rPr>
              <a:t>ival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 + 1)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124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2600" spc="-1" strike="noStrike">
                <a:solidFill>
                  <a:srgbClr val="00ff00"/>
                </a:solidFill>
                <a:latin typeface="Courier New"/>
                <a:ea typeface="Courier New"/>
              </a:rPr>
              <a:t>nsv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 = 'hello bob'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&gt;&gt;&gt; </a:t>
            </a:r>
            <a:r>
              <a:rPr b="0" lang="en-US" sz="2600" spc="-1" strike="noStrike">
                <a:solidFill>
                  <a:srgbClr val="00ff00"/>
                </a:solidFill>
                <a:latin typeface="Courier New"/>
                <a:ea typeface="Courier New"/>
              </a:rPr>
              <a:t>niv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 = </a:t>
            </a:r>
            <a:r>
              <a:rPr b="0" lang="en-US" sz="2600" spc="-1" strike="noStrike">
                <a:solidFill>
                  <a:srgbClr val="ffff00"/>
                </a:solidFill>
                <a:latin typeface="Courier New"/>
                <a:ea typeface="Courier New"/>
              </a:rPr>
              <a:t>int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(</a:t>
            </a:r>
            <a:r>
              <a:rPr b="0" lang="en-US" sz="2600" spc="-1" strike="noStrike">
                <a:solidFill>
                  <a:srgbClr val="00ff00"/>
                </a:solidFill>
                <a:latin typeface="Courier New"/>
                <a:ea typeface="Courier New"/>
              </a:rPr>
              <a:t>nsv</a:t>
            </a:r>
            <a:r>
              <a:rPr b="0" lang="en-US" sz="2600" spc="-1" strike="noStrike">
                <a:solidFill>
                  <a:schemeClr val="lt1"/>
                </a:solidFill>
                <a:latin typeface="Courier New"/>
                <a:ea typeface="Courier New"/>
              </a:rPr>
              <a:t>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e06666"/>
                </a:solidFill>
                <a:latin typeface="Courier New"/>
                <a:ea typeface="Courier New"/>
              </a:rPr>
              <a:t>Traceback (most recent call last):  File "&lt;stdin&gt;", line 1, in &lt;module&gt;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e06666"/>
                </a:solidFill>
                <a:latin typeface="Courier New"/>
                <a:ea typeface="Courier New"/>
              </a:rPr>
              <a:t>ValueError: invalid literal for int() with base 10: 'x'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3651560" cy="1103760"/>
          </a:xfrm>
          <a:prstGeom prst="rect">
            <a:avLst/>
          </a:prstGeom>
          <a:noFill/>
          <a:ln w="0">
            <a:noFill/>
          </a:ln>
        </p:spPr>
        <p:txBody>
          <a:bodyPr lIns="50760" rIns="50760" tIns="50760" bIns="507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0" spc="-1" strike="noStrike">
                <a:solidFill>
                  <a:srgbClr val="ffd966"/>
                </a:solidFill>
                <a:latin typeface="Arial"/>
                <a:ea typeface="Arial"/>
              </a:rPr>
              <a:t>User Input</a:t>
            </a:r>
            <a:endParaRPr b="0" lang="en-US" sz="7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6863400" cy="5294880"/>
          </a:xfrm>
          <a:prstGeom prst="rect">
            <a:avLst/>
          </a:prstGeom>
          <a:noFill/>
          <a:ln w="0">
            <a:noFill/>
          </a:ln>
        </p:spPr>
        <p:txBody>
          <a:bodyPr lIns="50760" rIns="50760" tIns="50760" bIns="50760" anchor="ctr">
            <a:noAutofit/>
          </a:bodyPr>
          <a:p>
            <a:pPr marL="1104840" indent="-787320">
              <a:lnSpc>
                <a:spcPct val="100000"/>
              </a:lnSpc>
              <a:buClr>
                <a:srgbClr val="ffffff"/>
              </a:buClr>
              <a:buSzPct val="171000"/>
              <a:buFont typeface="Cabin"/>
              <a:buChar char="•"/>
            </a:pPr>
            <a:r>
              <a:rPr b="0" lang="en-US" sz="3800" spc="-1" strike="noStrike">
                <a:solidFill>
                  <a:schemeClr val="lt1"/>
                </a:solidFill>
                <a:latin typeface="Arial"/>
                <a:ea typeface="Arial"/>
              </a:rPr>
              <a:t>We can instruct Python to pause and read data from the user using the </a:t>
            </a:r>
            <a:r>
              <a:rPr b="0" lang="en-US" sz="3800" spc="-1" strike="noStrike">
                <a:solidFill>
                  <a:srgbClr val="ffff00"/>
                </a:solidFill>
                <a:latin typeface="Arial"/>
                <a:ea typeface="Arial"/>
              </a:rPr>
              <a:t>input()</a:t>
            </a:r>
            <a:r>
              <a:rPr b="0" lang="en-US" sz="3800" spc="-1" strike="noStrike">
                <a:solidFill>
                  <a:srgbClr val="ff00ff"/>
                </a:solidFill>
                <a:latin typeface="Arial"/>
                <a:ea typeface="Arial"/>
              </a:rPr>
              <a:t> </a:t>
            </a:r>
            <a:r>
              <a:rPr b="0" lang="en-US" sz="3800" spc="-1" strike="noStrike">
                <a:solidFill>
                  <a:schemeClr val="lt1"/>
                </a:solidFill>
                <a:latin typeface="Arial"/>
                <a:ea typeface="Arial"/>
              </a:rPr>
              <a:t> function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  <a:p>
            <a:pPr marL="1104840" indent="-787320">
              <a:lnSpc>
                <a:spcPct val="100000"/>
              </a:lnSpc>
              <a:spcBef>
                <a:spcPts val="2299"/>
              </a:spcBef>
              <a:buClr>
                <a:srgbClr val="ffffff"/>
              </a:buClr>
              <a:buSzPct val="171000"/>
              <a:buFont typeface="Cabin"/>
              <a:buChar char="•"/>
            </a:pPr>
            <a:r>
              <a:rPr b="0" lang="en-US" sz="3800" spc="-1" strike="noStrike">
                <a:solidFill>
                  <a:schemeClr val="lt1"/>
                </a:solidFill>
                <a:latin typeface="Arial"/>
                <a:ea typeface="Arial"/>
              </a:rPr>
              <a:t>The </a:t>
            </a:r>
            <a:r>
              <a:rPr b="0" lang="en-US" sz="3800" spc="-1" strike="noStrike">
                <a:solidFill>
                  <a:srgbClr val="ffff00"/>
                </a:solidFill>
                <a:latin typeface="Arial"/>
                <a:ea typeface="Arial"/>
              </a:rPr>
              <a:t>input()</a:t>
            </a:r>
            <a:r>
              <a:rPr b="0" lang="en-US" sz="3800" spc="-1" strike="noStrike">
                <a:solidFill>
                  <a:srgbClr val="ff00ff"/>
                </a:solidFill>
                <a:latin typeface="Arial"/>
                <a:ea typeface="Arial"/>
              </a:rPr>
              <a:t> </a:t>
            </a:r>
            <a:r>
              <a:rPr b="0" lang="en-US" sz="3800" spc="-1" strike="noStrike">
                <a:solidFill>
                  <a:schemeClr val="lt1"/>
                </a:solidFill>
                <a:latin typeface="Arial"/>
                <a:ea typeface="Arial"/>
              </a:rPr>
              <a:t> function returns a string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473"/>
          <p:cNvSpPr/>
          <p:nvPr/>
        </p:nvSpPr>
        <p:spPr>
          <a:xfrm>
            <a:off x="8822520" y="3226680"/>
            <a:ext cx="707652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nam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 = 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input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('Who are you? ')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3000" spc="-1" strike="noStrike">
                <a:solidFill>
                  <a:schemeClr val="lt1"/>
                </a:solidFill>
                <a:latin typeface="Courier New"/>
                <a:ea typeface="Courier New"/>
              </a:rPr>
              <a:t>'Welcome', </a:t>
            </a:r>
            <a:r>
              <a:rPr b="0" lang="en-US" sz="3000" spc="-1" strike="noStrike">
                <a:solidFill>
                  <a:srgbClr val="00ff00"/>
                </a:solidFill>
                <a:latin typeface="Courier New"/>
                <a:ea typeface="Courier New"/>
              </a:rPr>
              <a:t>nam</a:t>
            </a:r>
            <a:r>
              <a:rPr b="0" lang="en-US" sz="30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474"/>
          <p:cNvSpPr/>
          <p:nvPr/>
        </p:nvSpPr>
        <p:spPr>
          <a:xfrm>
            <a:off x="9385560" y="5781600"/>
            <a:ext cx="4678920" cy="19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800" spc="-1" strike="noStrike">
                <a:solidFill>
                  <a:schemeClr val="lt1"/>
                </a:solidFill>
                <a:latin typeface="Arial"/>
                <a:ea typeface="Arial"/>
              </a:rPr>
              <a:t>Who are you? </a:t>
            </a:r>
            <a:r>
              <a:rPr b="0" lang="en-US" sz="3800" spc="-1" strike="noStrike">
                <a:solidFill>
                  <a:srgbClr val="ffff00"/>
                </a:solidFill>
                <a:latin typeface="Arial"/>
                <a:ea typeface="Arial"/>
              </a:rPr>
              <a:t>Chuck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800" spc="-1" strike="noStrike">
                <a:solidFill>
                  <a:schemeClr val="lt1"/>
                </a:solidFill>
                <a:latin typeface="Arial"/>
                <a:ea typeface="Arial"/>
              </a:rPr>
              <a:t>Welcome Chuck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0521000" cy="1103760"/>
          </a:xfrm>
          <a:prstGeom prst="rect">
            <a:avLst/>
          </a:prstGeom>
          <a:noFill/>
          <a:ln w="0">
            <a:noFill/>
          </a:ln>
        </p:spPr>
        <p:txBody>
          <a:bodyPr lIns="50760" rIns="50760" tIns="50760" bIns="507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800" spc="-1" strike="noStrike">
                <a:solidFill>
                  <a:srgbClr val="ffd966"/>
                </a:solidFill>
                <a:latin typeface="Arial"/>
                <a:ea typeface="Arial"/>
              </a:rPr>
              <a:t>Converting User Input</a:t>
            </a:r>
            <a:endParaRPr b="0" lang="en-US" sz="7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7244280" cy="6032880"/>
          </a:xfrm>
          <a:prstGeom prst="rect">
            <a:avLst/>
          </a:prstGeom>
          <a:noFill/>
          <a:ln w="0">
            <a:noFill/>
          </a:ln>
        </p:spPr>
        <p:txBody>
          <a:bodyPr lIns="50760" rIns="50760" tIns="50760" bIns="50760" anchor="ctr">
            <a:noAutofit/>
          </a:bodyPr>
          <a:p>
            <a:pPr marL="1104840" indent="-787320">
              <a:lnSpc>
                <a:spcPct val="100000"/>
              </a:lnSpc>
              <a:buClr>
                <a:srgbClr val="ffffff"/>
              </a:buClr>
              <a:buSzPct val="171000"/>
              <a:buFont typeface="Cabin"/>
              <a:buChar char="•"/>
            </a:pPr>
            <a:r>
              <a:rPr b="0" lang="en-US" sz="3800" spc="-1" strike="noStrike">
                <a:solidFill>
                  <a:schemeClr val="lt1"/>
                </a:solidFill>
                <a:latin typeface="Arial"/>
                <a:ea typeface="Arial"/>
              </a:rPr>
              <a:t>If we want to read a number from the user, we must convert it from a string to a number using a type conversion function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  <a:p>
            <a:pPr marL="1104840" indent="-787320">
              <a:lnSpc>
                <a:spcPct val="100000"/>
              </a:lnSpc>
              <a:spcBef>
                <a:spcPts val="2299"/>
              </a:spcBef>
              <a:buClr>
                <a:srgbClr val="ffffff"/>
              </a:buClr>
              <a:buSzPct val="171000"/>
              <a:buFont typeface="Cabin"/>
              <a:buChar char="•"/>
            </a:pPr>
            <a:r>
              <a:rPr b="0" lang="en-US" sz="3800" spc="-1" strike="noStrike">
                <a:solidFill>
                  <a:schemeClr val="lt1"/>
                </a:solidFill>
                <a:latin typeface="Arial"/>
                <a:ea typeface="Arial"/>
              </a:rPr>
              <a:t>Later we will deal with bad input data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481"/>
          <p:cNvSpPr/>
          <p:nvPr/>
        </p:nvSpPr>
        <p:spPr>
          <a:xfrm>
            <a:off x="8862840" y="3683160"/>
            <a:ext cx="6830640" cy="17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ff00"/>
                </a:solidFill>
                <a:latin typeface="Courier New"/>
                <a:ea typeface="Courier New"/>
              </a:rPr>
              <a:t>inp</a:t>
            </a:r>
            <a:r>
              <a:rPr b="0" lang="en-US" sz="2800" spc="-1" strike="noStrike">
                <a:solidFill>
                  <a:schemeClr val="lt1"/>
                </a:solidFill>
                <a:latin typeface="Courier New"/>
                <a:ea typeface="Courier New"/>
              </a:rPr>
              <a:t> = </a:t>
            </a: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input(</a:t>
            </a:r>
            <a:r>
              <a:rPr b="0" lang="en-US" sz="2800" spc="-1" strike="noStrike">
                <a:solidFill>
                  <a:schemeClr val="lt1"/>
                </a:solidFill>
                <a:latin typeface="Courier New"/>
                <a:ea typeface="Courier New"/>
              </a:rPr>
              <a:t>'Europe floor?'</a:t>
            </a: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00ff00"/>
                </a:solidFill>
                <a:latin typeface="Courier New"/>
                <a:ea typeface="Courier New"/>
              </a:rPr>
              <a:t>usf</a:t>
            </a:r>
            <a:r>
              <a:rPr b="0" lang="en-US" sz="2800" spc="-1" strike="noStrike">
                <a:solidFill>
                  <a:schemeClr val="lt1"/>
                </a:solidFill>
                <a:latin typeface="Courier New"/>
                <a:ea typeface="Courier New"/>
              </a:rPr>
              <a:t> = </a:t>
            </a: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int(</a:t>
            </a:r>
            <a:r>
              <a:rPr b="0" lang="en-US" sz="2800" spc="-1" strike="noStrike">
                <a:solidFill>
                  <a:srgbClr val="00ff00"/>
                </a:solidFill>
                <a:latin typeface="Courier New"/>
                <a:ea typeface="Courier New"/>
              </a:rPr>
              <a:t>inp</a:t>
            </a: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r>
              <a:rPr b="0" lang="en-US" sz="28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r>
              <a:rPr b="0" lang="en-US" sz="2800" spc="-1" strike="noStrike">
                <a:solidFill>
                  <a:srgbClr val="00ffff"/>
                </a:solidFill>
                <a:latin typeface="Courier New"/>
                <a:ea typeface="Courier New"/>
              </a:rPr>
              <a:t>+</a:t>
            </a:r>
            <a:r>
              <a:rPr b="0" lang="en-US" sz="2800" spc="-1" strike="noStrike">
                <a:solidFill>
                  <a:schemeClr val="lt1"/>
                </a:solidFill>
                <a:latin typeface="Courier New"/>
                <a:ea typeface="Courier New"/>
              </a:rPr>
              <a:t> 1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print(</a:t>
            </a:r>
            <a:r>
              <a:rPr b="0" lang="en-US" sz="2800" spc="-1" strike="noStrike">
                <a:solidFill>
                  <a:schemeClr val="lt1"/>
                </a:solidFill>
                <a:latin typeface="Courier New"/>
                <a:ea typeface="Courier New"/>
              </a:rPr>
              <a:t>'US floor', </a:t>
            </a:r>
            <a:r>
              <a:rPr b="0" lang="en-US" sz="2800" spc="-1" strike="noStrike">
                <a:solidFill>
                  <a:srgbClr val="00ff00"/>
                </a:solidFill>
                <a:latin typeface="Courier New"/>
                <a:ea typeface="Courier New"/>
              </a:rPr>
              <a:t>usf</a:t>
            </a:r>
            <a:r>
              <a:rPr b="0" lang="en-US" sz="2800" spc="-1" strike="noStrike">
                <a:solidFill>
                  <a:srgbClr val="ffff00"/>
                </a:solidFill>
                <a:latin typeface="Courier New"/>
                <a:ea typeface="Courier New"/>
              </a:rPr>
              <a:t>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482"/>
          <p:cNvSpPr/>
          <p:nvPr/>
        </p:nvSpPr>
        <p:spPr>
          <a:xfrm>
            <a:off x="10198080" y="6515280"/>
            <a:ext cx="456876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800" spc="-1" strike="noStrike">
                <a:solidFill>
                  <a:schemeClr val="lt1"/>
                </a:solidFill>
                <a:latin typeface="Arial"/>
                <a:ea typeface="Arial"/>
              </a:rPr>
              <a:t>Europe floor? </a:t>
            </a:r>
            <a:r>
              <a:rPr b="0" lang="en-US" sz="3800" spc="-1" strike="noStrike">
                <a:solidFill>
                  <a:srgbClr val="ffff00"/>
                </a:solidFill>
                <a:latin typeface="Arial"/>
                <a:ea typeface="Arial"/>
              </a:rPr>
              <a:t>0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800" spc="-1" strike="noStrike">
                <a:solidFill>
                  <a:schemeClr val="lt1"/>
                </a:solidFill>
                <a:latin typeface="Arial"/>
                <a:ea typeface="Arial"/>
              </a:rPr>
              <a:t>US floor 1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0" name="Shape 483" descr=""/>
          <p:cNvPicPr/>
          <p:nvPr/>
        </p:nvPicPr>
        <p:blipFill>
          <a:blip r:embed="rId1"/>
          <a:stretch/>
        </p:blipFill>
        <p:spPr>
          <a:xfrm>
            <a:off x="12153960" y="1193760"/>
            <a:ext cx="3173760" cy="212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Comments in Python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812880" y="2133720"/>
            <a:ext cx="14629320" cy="603288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marL="749160" indent="-371160">
              <a:lnSpc>
                <a:spcPct val="100000"/>
              </a:lnSpc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Anything after a </a:t>
            </a: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#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is ignored by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Python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749160" indent="-37116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Why comment?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670320" indent="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-  Describe what is going to happen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in a sequence of code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670320" indent="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-  Document who wrote the code or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other ancillary information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670320" indent="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-  Turn off a line of code - perhaps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temporarily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494"/>
          <p:cNvSpPr/>
          <p:nvPr/>
        </p:nvSpPr>
        <p:spPr>
          <a:xfrm>
            <a:off x="4241880" y="685800"/>
            <a:ext cx="8233200" cy="76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00"/>
                </a:solidFill>
                <a:latin typeface="Courier New"/>
                <a:ea typeface="Courier New"/>
              </a:rPr>
              <a:t># Get the name of the file and open it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Courier New"/>
                <a:ea typeface="Courier New"/>
              </a:rPr>
              <a:t>name = input('Enter file:')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Courier New"/>
                <a:ea typeface="Courier New"/>
              </a:rPr>
              <a:t>handle = open(name, 'r')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00"/>
                </a:solidFill>
                <a:latin typeface="Courier New"/>
                <a:ea typeface="Courier New"/>
              </a:rPr>
              <a:t># Count word frequency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counts = dict()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for line in handle: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words = line.split()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for word in words: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counts[word] = counts.get(word,0) + 1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00"/>
                </a:solidFill>
                <a:latin typeface="Courier New"/>
                <a:ea typeface="Courier New"/>
              </a:rPr>
              <a:t># Find the most common word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bigcount = None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bigword = None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for word,count in counts.items():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if bigcount is None or count &gt; bigcount: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bigword = word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bigcount = count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00"/>
                </a:solidFill>
                <a:latin typeface="Courier New"/>
                <a:ea typeface="Courier New"/>
              </a:rPr>
              <a:t># All done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print(bigword, bigcount)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3744440" cy="11037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600" spc="-1" strike="noStrike">
                <a:solidFill>
                  <a:srgbClr val="ffd966"/>
                </a:solidFill>
                <a:latin typeface="Arial"/>
                <a:ea typeface="Arial"/>
              </a:rPr>
              <a:t>Summary</a:t>
            </a:r>
            <a:endParaRPr b="0" lang="en-US" sz="7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1362960" y="2659680"/>
            <a:ext cx="6426360" cy="550692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t">
            <a:noAutofit/>
          </a:bodyPr>
          <a:p>
            <a:pPr marL="685800" indent="-329400">
              <a:lnSpc>
                <a:spcPct val="100000"/>
              </a:lnSpc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Type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685800" indent="-32940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Reserved words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685800" indent="-32940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Variables (mnemonic)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685800" indent="-32940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Operators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685800" indent="-32940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Operator precedence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501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8753400" y="2659680"/>
            <a:ext cx="6531480" cy="53949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38160" bIns="38160" anchor="t">
            <a:noAutofit/>
          </a:bodyPr>
          <a:p>
            <a:pPr marL="685800" indent="-32940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Division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685800" indent="-32940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Conversion between types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685800" indent="-32940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User input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685800" indent="-329400">
              <a:lnSpc>
                <a:spcPct val="100000"/>
              </a:lnSpc>
              <a:spcBef>
                <a:spcPts val="3501"/>
              </a:spcBef>
              <a:buClr>
                <a:srgbClr val="ffffff"/>
              </a:buClr>
              <a:buFont typeface="Cabin"/>
              <a:buChar char="•"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Arial"/>
              </a:rPr>
              <a:t>Comments (#)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534"/>
          <p:cNvSpPr/>
          <p:nvPr/>
        </p:nvSpPr>
        <p:spPr>
          <a:xfrm>
            <a:off x="687240" y="985680"/>
            <a:ext cx="2726280" cy="65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800" spc="-1" strike="noStrike">
                <a:solidFill>
                  <a:srgbClr val="ffff00"/>
                </a:solidFill>
                <a:latin typeface="Arial"/>
                <a:ea typeface="Arial"/>
              </a:rPr>
              <a:t>Exercise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535"/>
          <p:cNvSpPr/>
          <p:nvPr/>
        </p:nvSpPr>
        <p:spPr>
          <a:xfrm>
            <a:off x="2908440" y="2413080"/>
            <a:ext cx="10704960" cy="444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b="0" lang="en-US" sz="3800" spc="-1" strike="noStrike">
                <a:solidFill>
                  <a:schemeClr val="lt1"/>
                </a:solidFill>
                <a:latin typeface="Arial"/>
                <a:ea typeface="Arial"/>
              </a:rPr>
              <a:t>Write a program to prompt the user for hours and rate per hour to compute gross pay.</a:t>
            </a:r>
            <a:br>
              <a:rPr sz="3800"/>
            </a:b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b="0" lang="en-US" sz="3800" spc="-1" strike="noStrike">
                <a:solidFill>
                  <a:schemeClr val="lt1"/>
                </a:solidFill>
                <a:latin typeface="Courier New"/>
                <a:ea typeface="Courier New"/>
              </a:rPr>
              <a:t>Enter Hours: </a:t>
            </a:r>
            <a:r>
              <a:rPr b="0" lang="en-US" sz="3800" spc="-1" strike="noStrike">
                <a:solidFill>
                  <a:srgbClr val="ffff00"/>
                </a:solidFill>
                <a:latin typeface="Courier New"/>
                <a:ea typeface="Courier New"/>
              </a:rPr>
              <a:t>35</a:t>
            </a:r>
            <a:r>
              <a:rPr b="0" lang="en-US" sz="3800" spc="-1" strike="noStrike">
                <a:solidFill>
                  <a:schemeClr val="lt1"/>
                </a:solidFill>
                <a:latin typeface="Courier New"/>
                <a:ea typeface="Courier New"/>
              </a:rPr>
              <a:t> 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b="0" lang="en-US" sz="3800" spc="-1" strike="noStrike">
                <a:solidFill>
                  <a:schemeClr val="lt1"/>
                </a:solidFill>
                <a:latin typeface="Courier New"/>
                <a:ea typeface="Courier New"/>
              </a:rPr>
              <a:t>Enter Rate: </a:t>
            </a:r>
            <a:r>
              <a:rPr b="0" lang="en-US" sz="3800" spc="-1" strike="noStrike">
                <a:solidFill>
                  <a:srgbClr val="ffff00"/>
                </a:solidFill>
                <a:latin typeface="Courier New"/>
                <a:ea typeface="Courier New"/>
              </a:rPr>
              <a:t>2.75 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b="0" lang="en-US" sz="3800" spc="-1" strike="noStrike">
                <a:solidFill>
                  <a:schemeClr val="lt1"/>
                </a:solidFill>
                <a:latin typeface="Courier New"/>
                <a:ea typeface="Courier New"/>
              </a:rPr>
              <a:t>Pay: 96.25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812880" y="785880"/>
            <a:ext cx="14629320" cy="110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ffff00"/>
                </a:solidFill>
                <a:latin typeface="Arial"/>
                <a:ea typeface="Arial"/>
              </a:rPr>
              <a:t>Acknowledgments / Contributions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549"/>
          <p:cNvSpPr/>
          <p:nvPr/>
        </p:nvSpPr>
        <p:spPr>
          <a:xfrm>
            <a:off x="1155600" y="2171520"/>
            <a:ext cx="6796440" cy="59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These slides are Copyright 2010-  Charles R. Severance (</a:t>
            </a:r>
            <a:r>
              <a:rPr b="0" lang="en-US" sz="1800" spc="-1" strike="noStrike" u="sng">
                <a:solidFill>
                  <a:srgbClr val="009999"/>
                </a:solidFill>
                <a:uFillTx/>
                <a:latin typeface="Arial"/>
                <a:ea typeface="Arial"/>
                <a:hlinkClick r:id="rId1"/>
              </a:rPr>
              <a:t>www.dr-chuck.com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) of the University of Michigan School of Information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Initial Development: Charles Severance, University of Michigan School of Information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  <a:ea typeface="Arial"/>
              </a:rPr>
              <a:t>Contributors: Louis Aloia, North Central College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1" name="Shape 550" descr=""/>
          <p:cNvPicPr/>
          <p:nvPr/>
        </p:nvPicPr>
        <p:blipFill>
          <a:blip r:embed="rId2"/>
          <a:stretch/>
        </p:blipFill>
        <p:spPr>
          <a:xfrm>
            <a:off x="437760" y="991800"/>
            <a:ext cx="1023840" cy="1023840"/>
          </a:xfrm>
          <a:prstGeom prst="rect">
            <a:avLst/>
          </a:prstGeom>
          <a:ln w="0">
            <a:noFill/>
          </a:ln>
        </p:spPr>
      </p:pic>
      <p:pic>
        <p:nvPicPr>
          <p:cNvPr id="212" name="Shape 551" descr=""/>
          <p:cNvPicPr/>
          <p:nvPr/>
        </p:nvPicPr>
        <p:blipFill>
          <a:blip r:embed="rId3"/>
          <a:stretch/>
        </p:blipFill>
        <p:spPr>
          <a:xfrm>
            <a:off x="13897800" y="1170000"/>
            <a:ext cx="1967400" cy="667440"/>
          </a:xfrm>
          <a:prstGeom prst="rect">
            <a:avLst/>
          </a:prstGeom>
          <a:ln w="0">
            <a:noFill/>
          </a:ln>
        </p:spPr>
      </p:pic>
      <p:sp>
        <p:nvSpPr>
          <p:cNvPr id="213" name="Shape 552"/>
          <p:cNvSpPr/>
          <p:nvPr/>
        </p:nvSpPr>
        <p:spPr>
          <a:xfrm>
            <a:off x="8704440" y="2369520"/>
            <a:ext cx="6796440" cy="57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...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2110</TotalTime>
  <Application>LibreOffice/24.2.7.2$Linux_X86_64 LibreOffice_project/420$Build-2</Application>
  <AppVersion>15.0000</AppVersion>
  <Words>2095</Words>
  <Paragraphs>369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lastPrinted>2016-11-29T05:21:41Z</cp:lastPrinted>
  <dcterms:modified xsi:type="dcterms:W3CDTF">2026-04-04T15:18:54Z</dcterms:modified>
  <cp:revision>100</cp:revision>
  <dc:subject/>
  <dc:title>Variables, Expressions, and Statements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33</vt:i4>
  </property>
  <property fmtid="{D5CDD505-2E9C-101B-9397-08002B2CF9AE}" pid="3" name="PresentationFormat">
    <vt:lpwstr>Custom</vt:lpwstr>
  </property>
  <property fmtid="{D5CDD505-2E9C-101B-9397-08002B2CF9AE}" pid="4" name="Slides">
    <vt:i4>34</vt:i4>
  </property>
</Properties>
</file>